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ptos Bold" panose="020B0604020202020204" charset="0"/>
      <p:regular r:id="rId24"/>
      <p:bold r:id="rId25"/>
    </p:embeddedFont>
    <p:embeddedFont>
      <p:font typeface="Arial Bold" panose="020B0704020202020204" pitchFamily="34" charset="0"/>
      <p:regular r:id="rId26"/>
      <p:bold r:id="rId27"/>
    </p:embeddedFont>
    <p:embeddedFont>
      <p:font typeface="ITC Franklin Gothic LT" panose="020B0604020202020204" charset="0"/>
      <p:regular r:id="rId28"/>
    </p:embeddedFont>
    <p:embeddedFont>
      <p:font typeface="ITC Franklin Gothic LT Semi-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DB291-54AE-4334-8D0A-EF109E033800}" v="2" dt="2026-02-21T15:45:56.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10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udula Kamdi" userId="aa763024620870e2" providerId="LiveId" clId="{ED9A4457-CE3F-4DB4-AC98-7A29414659E0}"/>
    <pc:docChg chg="undo redo custSel modSld">
      <pc:chgData name="Mrudula Kamdi" userId="aa763024620870e2" providerId="LiveId" clId="{ED9A4457-CE3F-4DB4-AC98-7A29414659E0}" dt="2026-02-21T15:45:56.097" v="134" actId="20578"/>
      <pc:docMkLst>
        <pc:docMk/>
      </pc:docMkLst>
      <pc:sldChg chg="modSp mod">
        <pc:chgData name="Mrudula Kamdi" userId="aa763024620870e2" providerId="LiveId" clId="{ED9A4457-CE3F-4DB4-AC98-7A29414659E0}" dt="2026-02-14T01:56:10.062" v="2" actId="20577"/>
        <pc:sldMkLst>
          <pc:docMk/>
          <pc:sldMk cId="0" sldId="256"/>
        </pc:sldMkLst>
        <pc:spChg chg="mod">
          <ac:chgData name="Mrudula Kamdi" userId="aa763024620870e2" providerId="LiveId" clId="{ED9A4457-CE3F-4DB4-AC98-7A29414659E0}" dt="2026-02-14T01:56:10.062" v="2" actId="20577"/>
          <ac:spMkLst>
            <pc:docMk/>
            <pc:sldMk cId="0" sldId="256"/>
            <ac:spMk id="15" creationId="{00000000-0000-0000-0000-000000000000}"/>
          </ac:spMkLst>
        </pc:spChg>
      </pc:sldChg>
      <pc:sldChg chg="modSp mod">
        <pc:chgData name="Mrudula Kamdi" userId="aa763024620870e2" providerId="LiveId" clId="{ED9A4457-CE3F-4DB4-AC98-7A29414659E0}" dt="2026-02-14T01:56:56.543" v="4" actId="255"/>
        <pc:sldMkLst>
          <pc:docMk/>
          <pc:sldMk cId="0" sldId="258"/>
        </pc:sldMkLst>
        <pc:spChg chg="mod">
          <ac:chgData name="Mrudula Kamdi" userId="aa763024620870e2" providerId="LiveId" clId="{ED9A4457-CE3F-4DB4-AC98-7A29414659E0}" dt="2026-02-14T01:56:56.543" v="4" actId="255"/>
          <ac:spMkLst>
            <pc:docMk/>
            <pc:sldMk cId="0" sldId="258"/>
            <ac:spMk id="9" creationId="{00000000-0000-0000-0000-000000000000}"/>
          </ac:spMkLst>
        </pc:spChg>
      </pc:sldChg>
      <pc:sldChg chg="modSp mod">
        <pc:chgData name="Mrudula Kamdi" userId="aa763024620870e2" providerId="LiveId" clId="{ED9A4457-CE3F-4DB4-AC98-7A29414659E0}" dt="2026-02-14T02:11:09.168" v="132" actId="20577"/>
        <pc:sldMkLst>
          <pc:docMk/>
          <pc:sldMk cId="0" sldId="259"/>
        </pc:sldMkLst>
        <pc:spChg chg="mod">
          <ac:chgData name="Mrudula Kamdi" userId="aa763024620870e2" providerId="LiveId" clId="{ED9A4457-CE3F-4DB4-AC98-7A29414659E0}" dt="2026-02-14T02:11:09.168" v="132" actId="20577"/>
          <ac:spMkLst>
            <pc:docMk/>
            <pc:sldMk cId="0" sldId="259"/>
            <ac:spMk id="9" creationId="{00000000-0000-0000-0000-000000000000}"/>
          </ac:spMkLst>
        </pc:spChg>
      </pc:sldChg>
      <pc:sldChg chg="modSp mod">
        <pc:chgData name="Mrudula Kamdi" userId="aa763024620870e2" providerId="LiveId" clId="{ED9A4457-CE3F-4DB4-AC98-7A29414659E0}" dt="2026-02-14T01:58:51.876" v="37" actId="255"/>
        <pc:sldMkLst>
          <pc:docMk/>
          <pc:sldMk cId="0" sldId="260"/>
        </pc:sldMkLst>
        <pc:spChg chg="mod">
          <ac:chgData name="Mrudula Kamdi" userId="aa763024620870e2" providerId="LiveId" clId="{ED9A4457-CE3F-4DB4-AC98-7A29414659E0}" dt="2026-02-14T01:58:51.876" v="37" actId="255"/>
          <ac:spMkLst>
            <pc:docMk/>
            <pc:sldMk cId="0" sldId="260"/>
            <ac:spMk id="9" creationId="{00000000-0000-0000-0000-000000000000}"/>
          </ac:spMkLst>
        </pc:spChg>
      </pc:sldChg>
      <pc:sldChg chg="modSp mod">
        <pc:chgData name="Mrudula Kamdi" userId="aa763024620870e2" providerId="LiveId" clId="{ED9A4457-CE3F-4DB4-AC98-7A29414659E0}" dt="2026-02-14T01:59:07.891" v="39" actId="2711"/>
        <pc:sldMkLst>
          <pc:docMk/>
          <pc:sldMk cId="0" sldId="261"/>
        </pc:sldMkLst>
        <pc:spChg chg="mod">
          <ac:chgData name="Mrudula Kamdi" userId="aa763024620870e2" providerId="LiveId" clId="{ED9A4457-CE3F-4DB4-AC98-7A29414659E0}" dt="2026-02-14T01:59:07.891" v="39" actId="2711"/>
          <ac:spMkLst>
            <pc:docMk/>
            <pc:sldMk cId="0" sldId="261"/>
            <ac:spMk id="9" creationId="{00000000-0000-0000-0000-000000000000}"/>
          </ac:spMkLst>
        </pc:spChg>
      </pc:sldChg>
      <pc:sldChg chg="modSp mod">
        <pc:chgData name="Mrudula Kamdi" userId="aa763024620870e2" providerId="LiveId" clId="{ED9A4457-CE3F-4DB4-AC98-7A29414659E0}" dt="2026-02-14T01:59:35.586" v="44" actId="20577"/>
        <pc:sldMkLst>
          <pc:docMk/>
          <pc:sldMk cId="0" sldId="262"/>
        </pc:sldMkLst>
        <pc:spChg chg="mod">
          <ac:chgData name="Mrudula Kamdi" userId="aa763024620870e2" providerId="LiveId" clId="{ED9A4457-CE3F-4DB4-AC98-7A29414659E0}" dt="2026-02-14T01:59:35.586" v="44" actId="20577"/>
          <ac:spMkLst>
            <pc:docMk/>
            <pc:sldMk cId="0" sldId="262"/>
            <ac:spMk id="8" creationId="{00000000-0000-0000-0000-000000000000}"/>
          </ac:spMkLst>
        </pc:spChg>
      </pc:sldChg>
      <pc:sldChg chg="modSp mod">
        <pc:chgData name="Mrudula Kamdi" userId="aa763024620870e2" providerId="LiveId" clId="{ED9A4457-CE3F-4DB4-AC98-7A29414659E0}" dt="2026-02-14T02:00:07.156" v="46" actId="1076"/>
        <pc:sldMkLst>
          <pc:docMk/>
          <pc:sldMk cId="0" sldId="263"/>
        </pc:sldMkLst>
        <pc:spChg chg="mod">
          <ac:chgData name="Mrudula Kamdi" userId="aa763024620870e2" providerId="LiveId" clId="{ED9A4457-CE3F-4DB4-AC98-7A29414659E0}" dt="2026-02-14T02:00:07.156" v="46" actId="1076"/>
          <ac:spMkLst>
            <pc:docMk/>
            <pc:sldMk cId="0" sldId="263"/>
            <ac:spMk id="10" creationId="{00000000-0000-0000-0000-000000000000}"/>
          </ac:spMkLst>
        </pc:spChg>
      </pc:sldChg>
      <pc:sldChg chg="modSp mod">
        <pc:chgData name="Mrudula Kamdi" userId="aa763024620870e2" providerId="LiveId" clId="{ED9A4457-CE3F-4DB4-AC98-7A29414659E0}" dt="2026-02-14T02:00:31.522" v="50" actId="1076"/>
        <pc:sldMkLst>
          <pc:docMk/>
          <pc:sldMk cId="0" sldId="264"/>
        </pc:sldMkLst>
        <pc:spChg chg="mod">
          <ac:chgData name="Mrudula Kamdi" userId="aa763024620870e2" providerId="LiveId" clId="{ED9A4457-CE3F-4DB4-AC98-7A29414659E0}" dt="2026-02-14T02:00:28.340" v="49" actId="255"/>
          <ac:spMkLst>
            <pc:docMk/>
            <pc:sldMk cId="0" sldId="264"/>
            <ac:spMk id="8" creationId="{00000000-0000-0000-0000-000000000000}"/>
          </ac:spMkLst>
        </pc:spChg>
        <pc:spChg chg="mod">
          <ac:chgData name="Mrudula Kamdi" userId="aa763024620870e2" providerId="LiveId" clId="{ED9A4457-CE3F-4DB4-AC98-7A29414659E0}" dt="2026-02-14T02:00:31.522" v="50" actId="1076"/>
          <ac:spMkLst>
            <pc:docMk/>
            <pc:sldMk cId="0" sldId="264"/>
            <ac:spMk id="9" creationId="{00000000-0000-0000-0000-000000000000}"/>
          </ac:spMkLst>
        </pc:spChg>
      </pc:sldChg>
      <pc:sldChg chg="modSp mod">
        <pc:chgData name="Mrudula Kamdi" userId="aa763024620870e2" providerId="LiveId" clId="{ED9A4457-CE3F-4DB4-AC98-7A29414659E0}" dt="2026-02-14T02:00:53.312" v="53" actId="255"/>
        <pc:sldMkLst>
          <pc:docMk/>
          <pc:sldMk cId="0" sldId="265"/>
        </pc:sldMkLst>
        <pc:spChg chg="mod">
          <ac:chgData name="Mrudula Kamdi" userId="aa763024620870e2" providerId="LiveId" clId="{ED9A4457-CE3F-4DB4-AC98-7A29414659E0}" dt="2026-02-14T02:00:53.312" v="53" actId="255"/>
          <ac:spMkLst>
            <pc:docMk/>
            <pc:sldMk cId="0" sldId="265"/>
            <ac:spMk id="9" creationId="{00000000-0000-0000-0000-000000000000}"/>
          </ac:spMkLst>
        </pc:spChg>
      </pc:sldChg>
      <pc:sldChg chg="modSp mod">
        <pc:chgData name="Mrudula Kamdi" userId="aa763024620870e2" providerId="LiveId" clId="{ED9A4457-CE3F-4DB4-AC98-7A29414659E0}" dt="2026-02-14T02:01:34.412" v="57" actId="1076"/>
        <pc:sldMkLst>
          <pc:docMk/>
          <pc:sldMk cId="0" sldId="266"/>
        </pc:sldMkLst>
        <pc:spChg chg="mod">
          <ac:chgData name="Mrudula Kamdi" userId="aa763024620870e2" providerId="LiveId" clId="{ED9A4457-CE3F-4DB4-AC98-7A29414659E0}" dt="2026-02-14T02:01:31.812" v="56" actId="255"/>
          <ac:spMkLst>
            <pc:docMk/>
            <pc:sldMk cId="0" sldId="266"/>
            <ac:spMk id="8" creationId="{00000000-0000-0000-0000-000000000000}"/>
          </ac:spMkLst>
        </pc:spChg>
        <pc:spChg chg="mod">
          <ac:chgData name="Mrudula Kamdi" userId="aa763024620870e2" providerId="LiveId" clId="{ED9A4457-CE3F-4DB4-AC98-7A29414659E0}" dt="2026-02-14T02:01:34.412" v="57" actId="1076"/>
          <ac:spMkLst>
            <pc:docMk/>
            <pc:sldMk cId="0" sldId="266"/>
            <ac:spMk id="9" creationId="{00000000-0000-0000-0000-000000000000}"/>
          </ac:spMkLst>
        </pc:spChg>
      </pc:sldChg>
      <pc:sldChg chg="modSp mod">
        <pc:chgData name="Mrudula Kamdi" userId="aa763024620870e2" providerId="LiveId" clId="{ED9A4457-CE3F-4DB4-AC98-7A29414659E0}" dt="2026-02-14T02:02:20.087" v="63" actId="14100"/>
        <pc:sldMkLst>
          <pc:docMk/>
          <pc:sldMk cId="0" sldId="267"/>
        </pc:sldMkLst>
        <pc:spChg chg="mod">
          <ac:chgData name="Mrudula Kamdi" userId="aa763024620870e2" providerId="LiveId" clId="{ED9A4457-CE3F-4DB4-AC98-7A29414659E0}" dt="2026-02-14T02:02:09.530" v="60" actId="255"/>
          <ac:spMkLst>
            <pc:docMk/>
            <pc:sldMk cId="0" sldId="267"/>
            <ac:spMk id="8" creationId="{00000000-0000-0000-0000-000000000000}"/>
          </ac:spMkLst>
        </pc:spChg>
        <pc:spChg chg="mod">
          <ac:chgData name="Mrudula Kamdi" userId="aa763024620870e2" providerId="LiveId" clId="{ED9A4457-CE3F-4DB4-AC98-7A29414659E0}" dt="2026-02-14T02:02:20.087" v="63" actId="14100"/>
          <ac:spMkLst>
            <pc:docMk/>
            <pc:sldMk cId="0" sldId="267"/>
            <ac:spMk id="9" creationId="{00000000-0000-0000-0000-000000000000}"/>
          </ac:spMkLst>
        </pc:spChg>
      </pc:sldChg>
      <pc:sldChg chg="modSp mod">
        <pc:chgData name="Mrudula Kamdi" userId="aa763024620870e2" providerId="LiveId" clId="{ED9A4457-CE3F-4DB4-AC98-7A29414659E0}" dt="2026-02-14T02:02:49.714" v="67" actId="1076"/>
        <pc:sldMkLst>
          <pc:docMk/>
          <pc:sldMk cId="0" sldId="268"/>
        </pc:sldMkLst>
        <pc:spChg chg="mod">
          <ac:chgData name="Mrudula Kamdi" userId="aa763024620870e2" providerId="LiveId" clId="{ED9A4457-CE3F-4DB4-AC98-7A29414659E0}" dt="2026-02-14T02:02:42.603" v="65" actId="2711"/>
          <ac:spMkLst>
            <pc:docMk/>
            <pc:sldMk cId="0" sldId="268"/>
            <ac:spMk id="9" creationId="{00000000-0000-0000-0000-000000000000}"/>
          </ac:spMkLst>
        </pc:spChg>
        <pc:spChg chg="mod">
          <ac:chgData name="Mrudula Kamdi" userId="aa763024620870e2" providerId="LiveId" clId="{ED9A4457-CE3F-4DB4-AC98-7A29414659E0}" dt="2026-02-14T02:02:49.714" v="67" actId="1076"/>
          <ac:spMkLst>
            <pc:docMk/>
            <pc:sldMk cId="0" sldId="268"/>
            <ac:spMk id="10" creationId="{00000000-0000-0000-0000-000000000000}"/>
          </ac:spMkLst>
        </pc:spChg>
      </pc:sldChg>
      <pc:sldChg chg="modSp mod">
        <pc:chgData name="Mrudula Kamdi" userId="aa763024620870e2" providerId="LiveId" clId="{ED9A4457-CE3F-4DB4-AC98-7A29414659E0}" dt="2026-02-14T02:03:06.907" v="70" actId="1076"/>
        <pc:sldMkLst>
          <pc:docMk/>
          <pc:sldMk cId="0" sldId="269"/>
        </pc:sldMkLst>
        <pc:spChg chg="mod">
          <ac:chgData name="Mrudula Kamdi" userId="aa763024620870e2" providerId="LiveId" clId="{ED9A4457-CE3F-4DB4-AC98-7A29414659E0}" dt="2026-02-14T02:03:04.563" v="69" actId="255"/>
          <ac:spMkLst>
            <pc:docMk/>
            <pc:sldMk cId="0" sldId="269"/>
            <ac:spMk id="9" creationId="{00000000-0000-0000-0000-000000000000}"/>
          </ac:spMkLst>
        </pc:spChg>
        <pc:spChg chg="mod">
          <ac:chgData name="Mrudula Kamdi" userId="aa763024620870e2" providerId="LiveId" clId="{ED9A4457-CE3F-4DB4-AC98-7A29414659E0}" dt="2026-02-14T02:03:06.907" v="70" actId="1076"/>
          <ac:spMkLst>
            <pc:docMk/>
            <pc:sldMk cId="0" sldId="269"/>
            <ac:spMk id="10" creationId="{00000000-0000-0000-0000-000000000000}"/>
          </ac:spMkLst>
        </pc:spChg>
      </pc:sldChg>
      <pc:sldChg chg="modSp mod">
        <pc:chgData name="Mrudula Kamdi" userId="aa763024620870e2" providerId="LiveId" clId="{ED9A4457-CE3F-4DB4-AC98-7A29414659E0}" dt="2026-02-14T02:05:07.530" v="93" actId="113"/>
        <pc:sldMkLst>
          <pc:docMk/>
          <pc:sldMk cId="0" sldId="270"/>
        </pc:sldMkLst>
        <pc:spChg chg="mod">
          <ac:chgData name="Mrudula Kamdi" userId="aa763024620870e2" providerId="LiveId" clId="{ED9A4457-CE3F-4DB4-AC98-7A29414659E0}" dt="2026-02-14T02:05:07.530" v="93" actId="113"/>
          <ac:spMkLst>
            <pc:docMk/>
            <pc:sldMk cId="0" sldId="270"/>
            <ac:spMk id="11" creationId="{00000000-0000-0000-0000-000000000000}"/>
          </ac:spMkLst>
        </pc:spChg>
        <pc:spChg chg="mod">
          <ac:chgData name="Mrudula Kamdi" userId="aa763024620870e2" providerId="LiveId" clId="{ED9A4457-CE3F-4DB4-AC98-7A29414659E0}" dt="2026-02-14T02:04:29.282" v="90" actId="1076"/>
          <ac:spMkLst>
            <pc:docMk/>
            <pc:sldMk cId="0" sldId="270"/>
            <ac:spMk id="12" creationId="{00000000-0000-0000-0000-000000000000}"/>
          </ac:spMkLst>
        </pc:spChg>
      </pc:sldChg>
      <pc:sldChg chg="modSp mod">
        <pc:chgData name="Mrudula Kamdi" userId="aa763024620870e2" providerId="LiveId" clId="{ED9A4457-CE3F-4DB4-AC98-7A29414659E0}" dt="2026-02-14T02:06:24.875" v="110" actId="1076"/>
        <pc:sldMkLst>
          <pc:docMk/>
          <pc:sldMk cId="0" sldId="271"/>
        </pc:sldMkLst>
        <pc:spChg chg="mod">
          <ac:chgData name="Mrudula Kamdi" userId="aa763024620870e2" providerId="LiveId" clId="{ED9A4457-CE3F-4DB4-AC98-7A29414659E0}" dt="2026-02-14T02:06:24.875" v="110" actId="1076"/>
          <ac:spMkLst>
            <pc:docMk/>
            <pc:sldMk cId="0" sldId="271"/>
            <ac:spMk id="11" creationId="{00000000-0000-0000-0000-000000000000}"/>
          </ac:spMkLst>
        </pc:spChg>
        <pc:spChg chg="mod">
          <ac:chgData name="Mrudula Kamdi" userId="aa763024620870e2" providerId="LiveId" clId="{ED9A4457-CE3F-4DB4-AC98-7A29414659E0}" dt="2026-02-14T02:05:40.741" v="101" actId="20577"/>
          <ac:spMkLst>
            <pc:docMk/>
            <pc:sldMk cId="0" sldId="271"/>
            <ac:spMk id="13" creationId="{00000000-0000-0000-0000-000000000000}"/>
          </ac:spMkLst>
        </pc:spChg>
        <pc:spChg chg="mod">
          <ac:chgData name="Mrudula Kamdi" userId="aa763024620870e2" providerId="LiveId" clId="{ED9A4457-CE3F-4DB4-AC98-7A29414659E0}" dt="2026-02-14T02:06:09.866" v="109" actId="1076"/>
          <ac:spMkLst>
            <pc:docMk/>
            <pc:sldMk cId="0" sldId="271"/>
            <ac:spMk id="14" creationId="{00000000-0000-0000-0000-000000000000}"/>
          </ac:spMkLst>
        </pc:spChg>
      </pc:sldChg>
      <pc:sldChg chg="modSp mod">
        <pc:chgData name="Mrudula Kamdi" userId="aa763024620870e2" providerId="LiveId" clId="{ED9A4457-CE3F-4DB4-AC98-7A29414659E0}" dt="2026-02-14T02:07:07.517" v="115" actId="20577"/>
        <pc:sldMkLst>
          <pc:docMk/>
          <pc:sldMk cId="0" sldId="272"/>
        </pc:sldMkLst>
        <pc:spChg chg="mod">
          <ac:chgData name="Mrudula Kamdi" userId="aa763024620870e2" providerId="LiveId" clId="{ED9A4457-CE3F-4DB4-AC98-7A29414659E0}" dt="2026-02-14T02:07:07.517" v="115" actId="20577"/>
          <ac:spMkLst>
            <pc:docMk/>
            <pc:sldMk cId="0" sldId="272"/>
            <ac:spMk id="9" creationId="{00000000-0000-0000-0000-000000000000}"/>
          </ac:spMkLst>
        </pc:spChg>
      </pc:sldChg>
      <pc:sldChg chg="modSp mod">
        <pc:chgData name="Mrudula Kamdi" userId="aa763024620870e2" providerId="LiveId" clId="{ED9A4457-CE3F-4DB4-AC98-7A29414659E0}" dt="2026-02-14T02:08:11.794" v="123" actId="12"/>
        <pc:sldMkLst>
          <pc:docMk/>
          <pc:sldMk cId="0" sldId="273"/>
        </pc:sldMkLst>
        <pc:spChg chg="mod">
          <ac:chgData name="Mrudula Kamdi" userId="aa763024620870e2" providerId="LiveId" clId="{ED9A4457-CE3F-4DB4-AC98-7A29414659E0}" dt="2026-02-14T02:08:11.794" v="123" actId="12"/>
          <ac:spMkLst>
            <pc:docMk/>
            <pc:sldMk cId="0" sldId="273"/>
            <ac:spMk id="9" creationId="{00000000-0000-0000-0000-000000000000}"/>
          </ac:spMkLst>
        </pc:spChg>
      </pc:sldChg>
      <pc:sldChg chg="modSp mod">
        <pc:chgData name="Mrudula Kamdi" userId="aa763024620870e2" providerId="LiveId" clId="{ED9A4457-CE3F-4DB4-AC98-7A29414659E0}" dt="2026-02-14T02:51:13.690" v="133" actId="255"/>
        <pc:sldMkLst>
          <pc:docMk/>
          <pc:sldMk cId="0" sldId="274"/>
        </pc:sldMkLst>
        <pc:spChg chg="mod">
          <ac:chgData name="Mrudula Kamdi" userId="aa763024620870e2" providerId="LiveId" clId="{ED9A4457-CE3F-4DB4-AC98-7A29414659E0}" dt="2026-02-14T02:51:13.690" v="133" actId="255"/>
          <ac:spMkLst>
            <pc:docMk/>
            <pc:sldMk cId="0" sldId="274"/>
            <ac:spMk id="9" creationId="{00000000-0000-0000-0000-000000000000}"/>
          </ac:spMkLst>
        </pc:spChg>
      </pc:sldChg>
      <pc:sldChg chg="modSp mod">
        <pc:chgData name="Mrudula Kamdi" userId="aa763024620870e2" providerId="LiveId" clId="{ED9A4457-CE3F-4DB4-AC98-7A29414659E0}" dt="2026-02-21T15:45:56.097" v="134" actId="20578"/>
        <pc:sldMkLst>
          <pc:docMk/>
          <pc:sldMk cId="0" sldId="275"/>
        </pc:sldMkLst>
        <pc:spChg chg="mod">
          <ac:chgData name="Mrudula Kamdi" userId="aa763024620870e2" providerId="LiveId" clId="{ED9A4457-CE3F-4DB4-AC98-7A29414659E0}" dt="2026-02-21T15:45:56.097" v="134" actId="20578"/>
          <ac:spMkLst>
            <pc:docMk/>
            <pc:sldMk cId="0" sldId="275"/>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1568549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987" y="5143500"/>
            <a:ext cx="636813" cy="5143500"/>
            <a:chOff x="0" y="0"/>
            <a:chExt cx="849084" cy="6858000"/>
          </a:xfrm>
        </p:grpSpPr>
        <p:sp>
          <p:nvSpPr>
            <p:cNvPr id="3" name="Freeform 3"/>
            <p:cNvSpPr/>
            <p:nvPr/>
          </p:nvSpPr>
          <p:spPr>
            <a:xfrm>
              <a:off x="0" y="0"/>
              <a:ext cx="849122" cy="6858000"/>
            </a:xfrm>
            <a:custGeom>
              <a:avLst/>
              <a:gdLst/>
              <a:ahLst/>
              <a:cxnLst/>
              <a:rect l="l" t="t" r="r" b="b"/>
              <a:pathLst>
                <a:path w="849122" h="6858000">
                  <a:moveTo>
                    <a:pt x="0" y="0"/>
                  </a:moveTo>
                  <a:lnTo>
                    <a:pt x="849122" y="0"/>
                  </a:lnTo>
                  <a:lnTo>
                    <a:pt x="849122" y="6858000"/>
                  </a:lnTo>
                  <a:lnTo>
                    <a:pt x="0" y="6858000"/>
                  </a:lnTo>
                  <a:close/>
                </a:path>
              </a:pathLst>
            </a:custGeom>
            <a:solidFill>
              <a:srgbClr val="34A751"/>
            </a:solidFill>
          </p:spPr>
          <p:txBody>
            <a:bodyPr/>
            <a:lstStyle/>
            <a:p>
              <a:endParaRPr lang="en-IN"/>
            </a:p>
          </p:txBody>
        </p:sp>
      </p:grpSp>
      <p:grpSp>
        <p:nvGrpSpPr>
          <p:cNvPr id="4" name="Group 4"/>
          <p:cNvGrpSpPr/>
          <p:nvPr/>
        </p:nvGrpSpPr>
        <p:grpSpPr>
          <a:xfrm>
            <a:off x="0" y="0"/>
            <a:ext cx="342900" cy="5143500"/>
            <a:chOff x="0" y="0"/>
            <a:chExt cx="457200" cy="6858000"/>
          </a:xfrm>
        </p:grpSpPr>
        <p:sp>
          <p:nvSpPr>
            <p:cNvPr id="5" name="Freeform 5"/>
            <p:cNvSpPr/>
            <p:nvPr/>
          </p:nvSpPr>
          <p:spPr>
            <a:xfrm>
              <a:off x="0" y="0"/>
              <a:ext cx="457200" cy="6858000"/>
            </a:xfrm>
            <a:custGeom>
              <a:avLst/>
              <a:gdLst/>
              <a:ahLst/>
              <a:cxnLst/>
              <a:rect l="l" t="t" r="r" b="b"/>
              <a:pathLst>
                <a:path w="457200" h="6858000">
                  <a:moveTo>
                    <a:pt x="0" y="0"/>
                  </a:moveTo>
                  <a:lnTo>
                    <a:pt x="457200" y="0"/>
                  </a:lnTo>
                  <a:lnTo>
                    <a:pt x="457200" y="6858000"/>
                  </a:lnTo>
                  <a:lnTo>
                    <a:pt x="0" y="6858000"/>
                  </a:lnTo>
                  <a:close/>
                </a:path>
              </a:pathLst>
            </a:custGeom>
            <a:solidFill>
              <a:srgbClr val="263570"/>
            </a:solidFill>
          </p:spPr>
          <p:txBody>
            <a:bodyPr/>
            <a:lstStyle/>
            <a:p>
              <a:endParaRPr lang="en-IN"/>
            </a:p>
          </p:txBody>
        </p:sp>
      </p:grpSp>
      <p:grpSp>
        <p:nvGrpSpPr>
          <p:cNvPr id="6" name="Group 6"/>
          <p:cNvGrpSpPr/>
          <p:nvPr/>
        </p:nvGrpSpPr>
        <p:grpSpPr>
          <a:xfrm>
            <a:off x="11870874" y="0"/>
            <a:ext cx="7478487" cy="473526"/>
            <a:chOff x="0" y="0"/>
            <a:chExt cx="9971316" cy="631368"/>
          </a:xfrm>
        </p:grpSpPr>
        <p:sp>
          <p:nvSpPr>
            <p:cNvPr id="7" name="Freeform 7"/>
            <p:cNvSpPr/>
            <p:nvPr/>
          </p:nvSpPr>
          <p:spPr>
            <a:xfrm>
              <a:off x="0" y="0"/>
              <a:ext cx="9971278" cy="631317"/>
            </a:xfrm>
            <a:custGeom>
              <a:avLst/>
              <a:gdLst/>
              <a:ahLst/>
              <a:cxnLst/>
              <a:rect l="l" t="t" r="r" b="b"/>
              <a:pathLst>
                <a:path w="9971278" h="631317">
                  <a:moveTo>
                    <a:pt x="0" y="0"/>
                  </a:moveTo>
                  <a:lnTo>
                    <a:pt x="9971278" y="0"/>
                  </a:lnTo>
                  <a:lnTo>
                    <a:pt x="9971278" y="631317"/>
                  </a:lnTo>
                  <a:lnTo>
                    <a:pt x="0" y="631317"/>
                  </a:lnTo>
                  <a:close/>
                </a:path>
              </a:pathLst>
            </a:custGeom>
            <a:solidFill>
              <a:srgbClr val="FFFFFF"/>
            </a:solidFill>
          </p:spPr>
          <p:txBody>
            <a:bodyPr/>
            <a:lstStyle/>
            <a:p>
              <a:endParaRPr lang="en-IN"/>
            </a:p>
          </p:txBody>
        </p:sp>
      </p:grpSp>
      <p:grpSp>
        <p:nvGrpSpPr>
          <p:cNvPr id="8" name="Group 8"/>
          <p:cNvGrpSpPr/>
          <p:nvPr/>
        </p:nvGrpSpPr>
        <p:grpSpPr>
          <a:xfrm>
            <a:off x="-48987" y="9764487"/>
            <a:ext cx="19333026" cy="522513"/>
            <a:chOff x="0" y="0"/>
            <a:chExt cx="25777368" cy="696684"/>
          </a:xfrm>
        </p:grpSpPr>
        <p:sp>
          <p:nvSpPr>
            <p:cNvPr id="9" name="Freeform 9"/>
            <p:cNvSpPr/>
            <p:nvPr/>
          </p:nvSpPr>
          <p:spPr>
            <a:xfrm>
              <a:off x="0" y="0"/>
              <a:ext cx="25777317" cy="696722"/>
            </a:xfrm>
            <a:custGeom>
              <a:avLst/>
              <a:gdLst/>
              <a:ahLst/>
              <a:cxnLst/>
              <a:rect l="l" t="t" r="r" b="b"/>
              <a:pathLst>
                <a:path w="25777317" h="696722">
                  <a:moveTo>
                    <a:pt x="0" y="0"/>
                  </a:moveTo>
                  <a:lnTo>
                    <a:pt x="25777317" y="0"/>
                  </a:lnTo>
                  <a:lnTo>
                    <a:pt x="25777317" y="696722"/>
                  </a:lnTo>
                  <a:lnTo>
                    <a:pt x="0" y="696722"/>
                  </a:lnTo>
                  <a:close/>
                </a:path>
              </a:pathLst>
            </a:custGeom>
            <a:solidFill>
              <a:srgbClr val="34A751"/>
            </a:solidFill>
          </p:spPr>
          <p:txBody>
            <a:bodyPr/>
            <a:lstStyle/>
            <a:p>
              <a:endParaRPr lang="en-IN"/>
            </a:p>
          </p:txBody>
        </p:sp>
      </p:grpSp>
      <p:grpSp>
        <p:nvGrpSpPr>
          <p:cNvPr id="10" name="Group 10"/>
          <p:cNvGrpSpPr/>
          <p:nvPr/>
        </p:nvGrpSpPr>
        <p:grpSpPr>
          <a:xfrm>
            <a:off x="895960" y="474926"/>
            <a:ext cx="2588781" cy="844391"/>
            <a:chOff x="0" y="0"/>
            <a:chExt cx="3451708" cy="1125855"/>
          </a:xfrm>
        </p:grpSpPr>
        <p:sp>
          <p:nvSpPr>
            <p:cNvPr id="11" name="Freeform 11" descr="A black background with grey text  AI-generated content may be incorrect."/>
            <p:cNvSpPr/>
            <p:nvPr/>
          </p:nvSpPr>
          <p:spPr>
            <a:xfrm>
              <a:off x="0" y="0"/>
              <a:ext cx="3451733" cy="1125855"/>
            </a:xfrm>
            <a:custGeom>
              <a:avLst/>
              <a:gdLst/>
              <a:ahLst/>
              <a:cxnLst/>
              <a:rect l="l" t="t" r="r" b="b"/>
              <a:pathLst>
                <a:path w="3451733" h="1125855">
                  <a:moveTo>
                    <a:pt x="0" y="0"/>
                  </a:moveTo>
                  <a:lnTo>
                    <a:pt x="3451733" y="0"/>
                  </a:lnTo>
                  <a:lnTo>
                    <a:pt x="3451733" y="1125855"/>
                  </a:lnTo>
                  <a:lnTo>
                    <a:pt x="0" y="1125855"/>
                  </a:lnTo>
                  <a:lnTo>
                    <a:pt x="0" y="0"/>
                  </a:lnTo>
                  <a:close/>
                </a:path>
              </a:pathLst>
            </a:custGeom>
            <a:blipFill>
              <a:blip r:embed="rId3"/>
              <a:stretch>
                <a:fillRect b="-15"/>
              </a:stretch>
            </a:blipFill>
          </p:spPr>
          <p:txBody>
            <a:bodyPr/>
            <a:lstStyle/>
            <a:p>
              <a:endParaRPr lang="en-IN"/>
            </a:p>
          </p:txBody>
        </p:sp>
      </p:grpSp>
      <p:grpSp>
        <p:nvGrpSpPr>
          <p:cNvPr id="12" name="Group 12"/>
          <p:cNvGrpSpPr/>
          <p:nvPr/>
        </p:nvGrpSpPr>
        <p:grpSpPr>
          <a:xfrm>
            <a:off x="776068" y="2014585"/>
            <a:ext cx="7303827" cy="3760146"/>
            <a:chOff x="0" y="0"/>
            <a:chExt cx="9738436" cy="5013528"/>
          </a:xfrm>
        </p:grpSpPr>
        <p:sp>
          <p:nvSpPr>
            <p:cNvPr id="13" name="Freeform 13"/>
            <p:cNvSpPr/>
            <p:nvPr/>
          </p:nvSpPr>
          <p:spPr>
            <a:xfrm>
              <a:off x="0" y="0"/>
              <a:ext cx="9738438" cy="5013532"/>
            </a:xfrm>
            <a:custGeom>
              <a:avLst/>
              <a:gdLst/>
              <a:ahLst/>
              <a:cxnLst/>
              <a:rect l="l" t="t" r="r" b="b"/>
              <a:pathLst>
                <a:path w="9738438" h="5013532">
                  <a:moveTo>
                    <a:pt x="0" y="0"/>
                  </a:moveTo>
                  <a:lnTo>
                    <a:pt x="9738438" y="0"/>
                  </a:lnTo>
                  <a:lnTo>
                    <a:pt x="9738438" y="5013532"/>
                  </a:lnTo>
                  <a:lnTo>
                    <a:pt x="0" y="5013532"/>
                  </a:lnTo>
                  <a:close/>
                </a:path>
              </a:pathLst>
            </a:custGeom>
            <a:blipFill>
              <a:blip r:embed="rId4">
                <a:alphaModFix amt="0"/>
              </a:blip>
              <a:stretch>
                <a:fillRect l="-16053" r="-16053"/>
              </a:stretch>
            </a:blipFill>
          </p:spPr>
          <p:txBody>
            <a:bodyPr/>
            <a:lstStyle/>
            <a:p>
              <a:endParaRPr lang="en-IN"/>
            </a:p>
          </p:txBody>
        </p:sp>
        <p:sp>
          <p:nvSpPr>
            <p:cNvPr id="14" name="TextBox 14"/>
            <p:cNvSpPr txBox="1"/>
            <p:nvPr/>
          </p:nvSpPr>
          <p:spPr>
            <a:xfrm>
              <a:off x="0" y="123825"/>
              <a:ext cx="9738436" cy="4889703"/>
            </a:xfrm>
            <a:prstGeom prst="rect">
              <a:avLst/>
            </a:prstGeom>
          </p:spPr>
          <p:txBody>
            <a:bodyPr lIns="0" tIns="0" rIns="0" bIns="0" rtlCol="0" anchor="b"/>
            <a:lstStyle/>
            <a:p>
              <a:pPr algn="l">
                <a:lnSpc>
                  <a:spcPts val="3084"/>
                </a:lnSpc>
              </a:pPr>
              <a:r>
                <a:rPr lang="en-US" sz="3570" b="1" dirty="0">
                  <a:solidFill>
                    <a:srgbClr val="000000"/>
                  </a:solidFill>
                  <a:latin typeface="Aptos Bold"/>
                  <a:ea typeface="Aptos Bold"/>
                  <a:cs typeface="Aptos Bold"/>
                  <a:sym typeface="Aptos Bold"/>
                </a:rPr>
                <a:t>CAPSTONE PROJECT</a:t>
              </a:r>
            </a:p>
            <a:p>
              <a:pPr algn="l">
                <a:lnSpc>
                  <a:spcPts val="5618"/>
                </a:lnSpc>
              </a:pPr>
              <a:endParaRPr lang="en-US" sz="3570" b="1" dirty="0">
                <a:solidFill>
                  <a:srgbClr val="000000"/>
                </a:solidFill>
                <a:latin typeface="Aptos Bold"/>
                <a:ea typeface="Aptos Bold"/>
                <a:cs typeface="Aptos Bold"/>
                <a:sym typeface="Aptos Bold"/>
              </a:endParaRPr>
            </a:p>
            <a:p>
              <a:pPr algn="l">
                <a:lnSpc>
                  <a:spcPts val="5948"/>
                </a:lnSpc>
              </a:pPr>
              <a:r>
                <a:rPr lang="en-US" sz="6884" b="1" dirty="0">
                  <a:solidFill>
                    <a:srgbClr val="000000"/>
                  </a:solidFill>
                  <a:latin typeface="Aptos Bold"/>
                  <a:ea typeface="Aptos Bold"/>
                  <a:cs typeface="Aptos Bold"/>
                  <a:sym typeface="Aptos Bold"/>
                </a:rPr>
                <a:t>Heart Disease Prediction System</a:t>
              </a:r>
            </a:p>
            <a:p>
              <a:pPr algn="l">
                <a:lnSpc>
                  <a:spcPts val="5618"/>
                </a:lnSpc>
              </a:pPr>
              <a:r>
                <a:rPr lang="en-US" sz="6502" b="1" dirty="0">
                  <a:solidFill>
                    <a:srgbClr val="000000"/>
                  </a:solidFill>
                  <a:latin typeface="Aptos Bold"/>
                  <a:ea typeface="Aptos Bold"/>
                  <a:cs typeface="Aptos Bold"/>
                  <a:sym typeface="Aptos Bold"/>
                </a:rPr>
                <a:t> </a:t>
              </a:r>
            </a:p>
          </p:txBody>
        </p:sp>
      </p:grpSp>
      <p:sp>
        <p:nvSpPr>
          <p:cNvPr id="15" name="TextBox 15"/>
          <p:cNvSpPr txBox="1"/>
          <p:nvPr/>
        </p:nvSpPr>
        <p:spPr>
          <a:xfrm>
            <a:off x="982628" y="5684129"/>
            <a:ext cx="6822157" cy="1668983"/>
          </a:xfrm>
          <a:prstGeom prst="rect">
            <a:avLst/>
          </a:prstGeom>
        </p:spPr>
        <p:txBody>
          <a:bodyPr lIns="0" tIns="0" rIns="0" bIns="0" rtlCol="0" anchor="t">
            <a:spAutoFit/>
          </a:bodyPr>
          <a:lstStyle/>
          <a:p>
            <a:pPr algn="l">
              <a:lnSpc>
                <a:spcPts val="2592"/>
              </a:lnSpc>
            </a:pPr>
            <a:r>
              <a:rPr lang="en-US" sz="2400" b="1" dirty="0">
                <a:solidFill>
                  <a:srgbClr val="000000"/>
                </a:solidFill>
                <a:latin typeface="Aptos Bold"/>
                <a:ea typeface="Aptos Bold"/>
                <a:cs typeface="Aptos Bold"/>
                <a:sym typeface="Aptos Bold"/>
              </a:rPr>
              <a:t>Presented By-</a:t>
            </a:r>
          </a:p>
          <a:p>
            <a:pPr algn="l">
              <a:lnSpc>
                <a:spcPts val="2592"/>
              </a:lnSpc>
            </a:pPr>
            <a:r>
              <a:rPr lang="en-US" sz="2400" b="1" dirty="0">
                <a:solidFill>
                  <a:srgbClr val="000000"/>
                </a:solidFill>
                <a:latin typeface="Aptos Bold"/>
                <a:ea typeface="Aptos Bold"/>
                <a:cs typeface="Aptos Bold"/>
                <a:sym typeface="Aptos Bold"/>
              </a:rPr>
              <a:t>Student Name: </a:t>
            </a:r>
            <a:r>
              <a:rPr lang="en-US" sz="2400" dirty="0">
                <a:solidFill>
                  <a:srgbClr val="000000"/>
                </a:solidFill>
                <a:latin typeface="Aptos"/>
                <a:ea typeface="Aptos"/>
                <a:cs typeface="Aptos"/>
                <a:sym typeface="Aptos"/>
              </a:rPr>
              <a:t>Mrudula g. Kamdi</a:t>
            </a:r>
          </a:p>
          <a:p>
            <a:pPr algn="l">
              <a:lnSpc>
                <a:spcPts val="2592"/>
              </a:lnSpc>
            </a:pPr>
            <a:r>
              <a:rPr lang="en-US" sz="2400" b="1" dirty="0">
                <a:solidFill>
                  <a:srgbClr val="000000"/>
                </a:solidFill>
                <a:latin typeface="Aptos Bold"/>
                <a:ea typeface="Aptos Bold"/>
                <a:cs typeface="Aptos Bold"/>
                <a:sym typeface="Aptos Bold"/>
              </a:rPr>
              <a:t>College Name: </a:t>
            </a:r>
            <a:r>
              <a:rPr lang="en-US" sz="2400" dirty="0">
                <a:solidFill>
                  <a:srgbClr val="000000"/>
                </a:solidFill>
                <a:latin typeface="Aptos"/>
                <a:ea typeface="Aptos"/>
                <a:cs typeface="Aptos"/>
                <a:sym typeface="Aptos"/>
              </a:rPr>
              <a:t>Dr. G. Y. </a:t>
            </a:r>
            <a:r>
              <a:rPr lang="en-US" sz="2400" dirty="0" err="1">
                <a:solidFill>
                  <a:srgbClr val="000000"/>
                </a:solidFill>
                <a:latin typeface="Aptos"/>
                <a:ea typeface="Aptos"/>
                <a:cs typeface="Aptos"/>
                <a:sym typeface="Aptos"/>
              </a:rPr>
              <a:t>Pathrikar</a:t>
            </a:r>
            <a:r>
              <a:rPr lang="en-US" sz="2400" dirty="0">
                <a:solidFill>
                  <a:srgbClr val="000000"/>
                </a:solidFill>
                <a:latin typeface="Aptos"/>
                <a:ea typeface="Aptos"/>
                <a:cs typeface="Aptos"/>
                <a:sym typeface="Aptos"/>
              </a:rPr>
              <a:t> college of CS &amp; IT</a:t>
            </a:r>
          </a:p>
          <a:p>
            <a:pPr algn="l">
              <a:lnSpc>
                <a:spcPts val="2592"/>
              </a:lnSpc>
            </a:pPr>
            <a:r>
              <a:rPr lang="en-US" sz="2400" b="1" dirty="0">
                <a:solidFill>
                  <a:srgbClr val="000000"/>
                </a:solidFill>
                <a:latin typeface="Aptos Bold"/>
                <a:ea typeface="Aptos Bold"/>
                <a:cs typeface="Aptos Bold"/>
                <a:sym typeface="Aptos Bold"/>
              </a:rPr>
              <a:t>Department: </a:t>
            </a:r>
            <a:r>
              <a:rPr lang="en-US" sz="2400" dirty="0">
                <a:solidFill>
                  <a:srgbClr val="000000"/>
                </a:solidFill>
                <a:latin typeface="Aptos"/>
                <a:ea typeface="Aptos"/>
                <a:cs typeface="Aptos"/>
                <a:sym typeface="Aptos"/>
              </a:rPr>
              <a:t>Data Science</a:t>
            </a:r>
          </a:p>
          <a:p>
            <a:pPr algn="l">
              <a:lnSpc>
                <a:spcPts val="2592"/>
              </a:lnSpc>
            </a:pPr>
            <a:r>
              <a:rPr lang="en-US" sz="2400" b="1" dirty="0">
                <a:solidFill>
                  <a:srgbClr val="000000"/>
                </a:solidFill>
                <a:latin typeface="Aptos Bold"/>
                <a:ea typeface="Aptos Bold"/>
                <a:cs typeface="Aptos Bold"/>
                <a:sym typeface="Aptos Bold"/>
              </a:rPr>
              <a:t>Email ID: </a:t>
            </a:r>
            <a:r>
              <a:rPr lang="en-US" sz="2400" dirty="0">
                <a:solidFill>
                  <a:srgbClr val="000000"/>
                </a:solidFill>
                <a:latin typeface="Aptos"/>
                <a:ea typeface="Aptos"/>
                <a:cs typeface="Aptos"/>
                <a:sym typeface="Aptos"/>
              </a:rPr>
              <a:t>kamdimrudula2003@gmail.</a:t>
            </a:r>
            <a:r>
              <a:rPr lang="en-US" sz="2400" dirty="0">
                <a:solidFill>
                  <a:srgbClr val="000000"/>
                </a:solidFill>
                <a:latin typeface="Aptos" panose="020B0004020202020204" pitchFamily="34" charset="0"/>
                <a:ea typeface="Aptos"/>
                <a:cs typeface="Aptos"/>
                <a:sym typeface="Aptos"/>
              </a:rPr>
              <a:t>com</a:t>
            </a:r>
          </a:p>
        </p:txBody>
      </p:sp>
      <p:grpSp>
        <p:nvGrpSpPr>
          <p:cNvPr id="16" name="Group 16"/>
          <p:cNvGrpSpPr/>
          <p:nvPr/>
        </p:nvGrpSpPr>
        <p:grpSpPr>
          <a:xfrm>
            <a:off x="8079896" y="403984"/>
            <a:ext cx="9175166" cy="9313164"/>
            <a:chOff x="0" y="0"/>
            <a:chExt cx="12233554" cy="12417552"/>
          </a:xfrm>
        </p:grpSpPr>
        <p:sp>
          <p:nvSpPr>
            <p:cNvPr id="17" name="Freeform 17"/>
            <p:cNvSpPr/>
            <p:nvPr/>
          </p:nvSpPr>
          <p:spPr>
            <a:xfrm>
              <a:off x="0" y="0"/>
              <a:ext cx="12233529" cy="12417552"/>
            </a:xfrm>
            <a:custGeom>
              <a:avLst/>
              <a:gdLst/>
              <a:ahLst/>
              <a:cxnLst/>
              <a:rect l="l" t="t" r="r" b="b"/>
              <a:pathLst>
                <a:path w="12233529" h="12417552">
                  <a:moveTo>
                    <a:pt x="0" y="0"/>
                  </a:moveTo>
                  <a:lnTo>
                    <a:pt x="12233529" y="0"/>
                  </a:lnTo>
                  <a:lnTo>
                    <a:pt x="12233529" y="12417552"/>
                  </a:lnTo>
                  <a:lnTo>
                    <a:pt x="0" y="12417552"/>
                  </a:lnTo>
                  <a:close/>
                </a:path>
              </a:pathLst>
            </a:custGeom>
            <a:solidFill>
              <a:srgbClr val="FFFFFF"/>
            </a:solidFill>
          </p:spPr>
          <p:txBody>
            <a:bodyPr/>
            <a:lstStyle/>
            <a:p>
              <a:endParaRPr lang="en-IN"/>
            </a:p>
          </p:txBody>
        </p:sp>
      </p:grpSp>
      <p:grpSp>
        <p:nvGrpSpPr>
          <p:cNvPr id="18" name="Group 18"/>
          <p:cNvGrpSpPr/>
          <p:nvPr/>
        </p:nvGrpSpPr>
        <p:grpSpPr>
          <a:xfrm>
            <a:off x="9614983" y="1444542"/>
            <a:ext cx="6886175" cy="7404735"/>
            <a:chOff x="0" y="0"/>
            <a:chExt cx="9181567" cy="9872980"/>
          </a:xfrm>
        </p:grpSpPr>
        <p:sp>
          <p:nvSpPr>
            <p:cNvPr id="19" name="Freeform 19"/>
            <p:cNvSpPr/>
            <p:nvPr/>
          </p:nvSpPr>
          <p:spPr>
            <a:xfrm>
              <a:off x="0" y="0"/>
              <a:ext cx="9181592" cy="9872980"/>
            </a:xfrm>
            <a:custGeom>
              <a:avLst/>
              <a:gdLst/>
              <a:ahLst/>
              <a:cxnLst/>
              <a:rect l="l" t="t" r="r" b="b"/>
              <a:pathLst>
                <a:path w="9181592" h="9872980">
                  <a:moveTo>
                    <a:pt x="0" y="0"/>
                  </a:moveTo>
                  <a:lnTo>
                    <a:pt x="9181592" y="0"/>
                  </a:lnTo>
                  <a:lnTo>
                    <a:pt x="9181592" y="9872980"/>
                  </a:lnTo>
                  <a:lnTo>
                    <a:pt x="0" y="9872980"/>
                  </a:lnTo>
                  <a:lnTo>
                    <a:pt x="0" y="0"/>
                  </a:lnTo>
                  <a:close/>
                </a:path>
              </a:pathLst>
            </a:custGeom>
            <a:blipFill>
              <a:blip r:embed="rId5"/>
              <a:stretch>
                <a:fillRect t="-218" b="-218"/>
              </a:stretch>
            </a:blipFill>
          </p:spPr>
          <p:txBody>
            <a:bodyPr/>
            <a:lstStyle/>
            <a:p>
              <a:endParaRPr lang="en-IN"/>
            </a:p>
          </p:txBody>
        </p:sp>
      </p:grpSp>
      <p:grpSp>
        <p:nvGrpSpPr>
          <p:cNvPr id="20" name="Group 20"/>
          <p:cNvGrpSpPr/>
          <p:nvPr/>
        </p:nvGrpSpPr>
        <p:grpSpPr>
          <a:xfrm>
            <a:off x="9144000" y="1437723"/>
            <a:ext cx="7357158" cy="7404735"/>
            <a:chOff x="0" y="0"/>
            <a:chExt cx="9809544" cy="9872980"/>
          </a:xfrm>
        </p:grpSpPr>
        <p:sp>
          <p:nvSpPr>
            <p:cNvPr id="21" name="Freeform 21" descr="A person in a black shirt  AI-generated content may be incorrect."/>
            <p:cNvSpPr/>
            <p:nvPr/>
          </p:nvSpPr>
          <p:spPr>
            <a:xfrm>
              <a:off x="0" y="0"/>
              <a:ext cx="9809607" cy="9872980"/>
            </a:xfrm>
            <a:custGeom>
              <a:avLst/>
              <a:gdLst/>
              <a:ahLst/>
              <a:cxnLst/>
              <a:rect l="l" t="t" r="r" b="b"/>
              <a:pathLst>
                <a:path w="9809607" h="9872980">
                  <a:moveTo>
                    <a:pt x="0" y="0"/>
                  </a:moveTo>
                  <a:lnTo>
                    <a:pt x="9809607" y="0"/>
                  </a:lnTo>
                  <a:lnTo>
                    <a:pt x="9809607" y="9872980"/>
                  </a:lnTo>
                  <a:lnTo>
                    <a:pt x="0" y="9872980"/>
                  </a:lnTo>
                  <a:lnTo>
                    <a:pt x="0" y="0"/>
                  </a:lnTo>
                  <a:close/>
                </a:path>
              </a:pathLst>
            </a:custGeom>
            <a:blipFill>
              <a:blip r:embed="rId6"/>
              <a:stretch>
                <a:fillRect t="-11520" b="-11520"/>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89649" y="1160145"/>
            <a:ext cx="15590520" cy="1830229"/>
          </a:xfrm>
          <a:prstGeom prst="rect">
            <a:avLst/>
          </a:prstGeom>
        </p:spPr>
        <p:txBody>
          <a:bodyPr lIns="0" tIns="0" rIns="0" bIns="0" rtlCol="0" anchor="t">
            <a:spAutoFit/>
          </a:bodyPr>
          <a:lstStyle/>
          <a:p>
            <a:pPr algn="l">
              <a:lnSpc>
                <a:spcPts val="8748"/>
              </a:lnSpc>
            </a:pPr>
            <a:r>
              <a:rPr lang="en-US" sz="8100" b="1">
                <a:solidFill>
                  <a:srgbClr val="000000"/>
                </a:solidFill>
                <a:latin typeface="Arial Bold"/>
                <a:ea typeface="Arial Bold"/>
                <a:cs typeface="Arial Bold"/>
                <a:sym typeface="Arial Bold"/>
              </a:rPr>
              <a:t>OUTLINE:</a:t>
            </a:r>
          </a:p>
        </p:txBody>
      </p:sp>
      <p:sp>
        <p:nvSpPr>
          <p:cNvPr id="9" name="TextBox 9"/>
          <p:cNvSpPr txBox="1"/>
          <p:nvPr/>
        </p:nvSpPr>
        <p:spPr>
          <a:xfrm>
            <a:off x="741521" y="2788587"/>
            <a:ext cx="15590520" cy="4069842"/>
          </a:xfrm>
          <a:prstGeom prst="rect">
            <a:avLst/>
          </a:prstGeom>
        </p:spPr>
        <p:txBody>
          <a:bodyPr lIns="0" tIns="0" rIns="0" bIns="0" rtlCol="0" anchor="t">
            <a:spAutoFit/>
          </a:bodyPr>
          <a:lstStyle/>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Problem Statement</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Proposed System/Solution</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System Development Approach</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Algorithm  </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Result (Output Image)</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Conclusion</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Future Scope</a:t>
            </a:r>
          </a:p>
          <a:p>
            <a:pPr marL="597217" lvl="1" indent="-298609" algn="l">
              <a:lnSpc>
                <a:spcPts val="3564"/>
              </a:lnSpc>
              <a:buFont typeface="Arial"/>
              <a:buChar char="•"/>
            </a:pPr>
            <a:r>
              <a:rPr lang="en-US" sz="3300" b="1">
                <a:solidFill>
                  <a:srgbClr val="000000"/>
                </a:solidFill>
                <a:latin typeface="Arial Bold"/>
                <a:ea typeface="Arial Bold"/>
                <a:cs typeface="Arial Bold"/>
                <a:sym typeface="Arial Bold"/>
              </a:rPr>
              <a:t>References</a:t>
            </a:r>
          </a:p>
          <a:p>
            <a:pPr marL="597217" lvl="1" indent="-298609" algn="l">
              <a:lnSpc>
                <a:spcPts val="3564"/>
              </a:lnSpc>
            </a:pPr>
            <a:endParaRPr lang="en-US" sz="3300" b="1">
              <a:solidFill>
                <a:srgbClr val="000000"/>
              </a:solidFill>
              <a:latin typeface="Arial Bold"/>
              <a:ea typeface="Arial Bold"/>
              <a:cs typeface="Arial Bold"/>
              <a:sym typeface="Arial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445399" y="1123236"/>
            <a:ext cx="15234771"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Problem Statement:</a:t>
            </a:r>
          </a:p>
        </p:txBody>
      </p:sp>
      <p:sp>
        <p:nvSpPr>
          <p:cNvPr id="9" name="TextBox 9"/>
          <p:cNvSpPr txBox="1"/>
          <p:nvPr/>
        </p:nvSpPr>
        <p:spPr>
          <a:xfrm>
            <a:off x="969655" y="2245376"/>
            <a:ext cx="16442512" cy="4794261"/>
          </a:xfrm>
          <a:prstGeom prst="rect">
            <a:avLst/>
          </a:prstGeom>
        </p:spPr>
        <p:txBody>
          <a:bodyPr lIns="0" tIns="0" rIns="0" bIns="0" rtlCol="0" anchor="t">
            <a:spAutoFit/>
          </a:bodyPr>
          <a:lstStyle/>
          <a:p>
            <a:pPr algn="l">
              <a:lnSpc>
                <a:spcPts val="2916"/>
              </a:lnSpc>
            </a:pPr>
            <a:r>
              <a:rPr lang="en-US" dirty="0">
                <a:solidFill>
                  <a:srgbClr val="000000"/>
                </a:solidFill>
                <a:latin typeface="Arial" panose="020B0604020202020204" pitchFamily="34" charset="0"/>
                <a:ea typeface="Arial"/>
                <a:cs typeface="Arial" panose="020B0604020202020204" pitchFamily="34" charset="0"/>
                <a:sym typeface="Arial"/>
              </a:rPr>
              <a:t>Heart disease is one of the leading causes of death worldwide, often resulting from late diagnosis and lack of early risk awareness. With changing lifestyles, increasing stress levels, and limited access to preventive healthcare, there is a growing need for intelligent systems that can assist in early detection. Traditional diagnosis methods may require time and extensive medical resources, which makes early screening difficult for large populations. Therefore, building a Machine Learning-based heart disease prediction system can help analyze patient health parameters and estimate the risk level, enabling timely intervention and supporting better healthcare decisions for society.</a:t>
            </a:r>
          </a:p>
          <a:p>
            <a:pPr algn="l">
              <a:lnSpc>
                <a:spcPts val="2916"/>
              </a:lnSpc>
            </a:pPr>
            <a:endParaRPr lang="en-US" dirty="0">
              <a:solidFill>
                <a:srgbClr val="000000"/>
              </a:solidFill>
              <a:latin typeface="Arial" panose="020B0604020202020204" pitchFamily="34" charset="0"/>
              <a:ea typeface="Arial"/>
              <a:cs typeface="Arial" panose="020B0604020202020204" pitchFamily="34" charset="0"/>
              <a:sym typeface="Arial"/>
            </a:endParaRPr>
          </a:p>
          <a:p>
            <a:pPr algn="l">
              <a:lnSpc>
                <a:spcPts val="2916"/>
              </a:lnSpc>
            </a:pPr>
            <a:r>
              <a:rPr lang="en-US" b="1" dirty="0">
                <a:solidFill>
                  <a:srgbClr val="000000"/>
                </a:solidFill>
                <a:latin typeface="Arial" panose="020B0604020202020204" pitchFamily="34" charset="0"/>
                <a:ea typeface="Arial Bold"/>
                <a:cs typeface="Arial" panose="020B0604020202020204" pitchFamily="34" charset="0"/>
                <a:sym typeface="Arial Bold"/>
              </a:rPr>
              <a:t>Key Focus Areas</a:t>
            </a:r>
          </a:p>
          <a:p>
            <a:pPr marL="488632" lvl="1" indent="-244316" algn="l">
              <a:lnSpc>
                <a:spcPts val="2916"/>
              </a:lnSpc>
              <a:buFont typeface="Arial"/>
              <a:buChar char="•"/>
            </a:pPr>
            <a:r>
              <a:rPr lang="en-US" dirty="0">
                <a:solidFill>
                  <a:srgbClr val="000000"/>
                </a:solidFill>
                <a:latin typeface="Arial" panose="020B0604020202020204" pitchFamily="34" charset="0"/>
                <a:ea typeface="Arial"/>
                <a:cs typeface="Arial" panose="020B0604020202020204" pitchFamily="34" charset="0"/>
                <a:sym typeface="Arial"/>
              </a:rPr>
              <a:t>Develop a predictive model to identify the risk of heart disease using patient health data.</a:t>
            </a:r>
          </a:p>
          <a:p>
            <a:pPr marL="488632" lvl="1" indent="-244316" algn="l">
              <a:lnSpc>
                <a:spcPts val="2916"/>
              </a:lnSpc>
              <a:buFont typeface="Arial"/>
              <a:buChar char="•"/>
            </a:pPr>
            <a:r>
              <a:rPr lang="en-US" dirty="0">
                <a:solidFill>
                  <a:srgbClr val="000000"/>
                </a:solidFill>
                <a:latin typeface="Arial" panose="020B0604020202020204" pitchFamily="34" charset="0"/>
                <a:ea typeface="Arial"/>
                <a:cs typeface="Arial" panose="020B0604020202020204" pitchFamily="34" charset="0"/>
                <a:sym typeface="Arial"/>
              </a:rPr>
              <a:t>Use parameters such as age, blood pressure, cholesterol, heart rate, and lifestyle factors.</a:t>
            </a:r>
          </a:p>
          <a:p>
            <a:pPr marL="488632" lvl="1" indent="-244316" algn="l">
              <a:lnSpc>
                <a:spcPts val="2916"/>
              </a:lnSpc>
              <a:buFont typeface="Arial"/>
              <a:buChar char="•"/>
            </a:pPr>
            <a:r>
              <a:rPr lang="en-US" dirty="0">
                <a:solidFill>
                  <a:srgbClr val="000000"/>
                </a:solidFill>
                <a:latin typeface="Arial" panose="020B0604020202020204" pitchFamily="34" charset="0"/>
                <a:ea typeface="Arial"/>
                <a:cs typeface="Arial" panose="020B0604020202020204" pitchFamily="34" charset="0"/>
                <a:sym typeface="Arial"/>
              </a:rPr>
              <a:t>Support early detection and preventive healthcare awareness.</a:t>
            </a:r>
          </a:p>
          <a:p>
            <a:pPr marL="488632" lvl="1" indent="-244316" algn="l">
              <a:lnSpc>
                <a:spcPts val="2916"/>
              </a:lnSpc>
              <a:buFont typeface="Arial"/>
              <a:buChar char="•"/>
            </a:pPr>
            <a:r>
              <a:rPr lang="en-US" dirty="0">
                <a:solidFill>
                  <a:srgbClr val="000000"/>
                </a:solidFill>
                <a:latin typeface="Arial" panose="020B0604020202020204" pitchFamily="34" charset="0"/>
                <a:ea typeface="Arial"/>
                <a:cs typeface="Arial" panose="020B0604020202020204" pitchFamily="34" charset="0"/>
                <a:sym typeface="Arial"/>
              </a:rPr>
              <a:t>Assist healthcare professionals with data-driven insights.</a:t>
            </a:r>
          </a:p>
          <a:p>
            <a:pPr marL="488632" lvl="1" indent="-244316" algn="l">
              <a:lnSpc>
                <a:spcPts val="2916"/>
              </a:lnSpc>
              <a:buFont typeface="Arial"/>
              <a:buChar char="•"/>
            </a:pPr>
            <a:r>
              <a:rPr lang="en-US" dirty="0">
                <a:solidFill>
                  <a:srgbClr val="000000"/>
                </a:solidFill>
                <a:latin typeface="Arial" panose="020B0604020202020204" pitchFamily="34" charset="0"/>
                <a:ea typeface="Arial"/>
                <a:cs typeface="Arial" panose="020B0604020202020204" pitchFamily="34" charset="0"/>
                <a:sym typeface="Arial"/>
              </a:rPr>
              <a:t>Reduce healthcare burden by enabling faster preliminary risk assessment.</a:t>
            </a:r>
          </a:p>
          <a:p>
            <a:pPr marL="488632" lvl="1" indent="-244316" algn="l">
              <a:lnSpc>
                <a:spcPts val="2916"/>
              </a:lnSpc>
              <a:buFont typeface="Arial"/>
              <a:buChar char="•"/>
            </a:pPr>
            <a:r>
              <a:rPr lang="en-US" dirty="0">
                <a:solidFill>
                  <a:srgbClr val="000000"/>
                </a:solidFill>
                <a:latin typeface="Arial" panose="020B0604020202020204" pitchFamily="34" charset="0"/>
                <a:ea typeface="Arial"/>
                <a:cs typeface="Arial" panose="020B0604020202020204" pitchFamily="34" charset="0"/>
                <a:sym typeface="Arial"/>
              </a:rPr>
              <a:t>Promote accessible and technology-driven healthcare solutions for society.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404589" y="10763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Proposed Solution:</a:t>
            </a:r>
          </a:p>
        </p:txBody>
      </p:sp>
      <p:sp>
        <p:nvSpPr>
          <p:cNvPr id="9" name="TextBox 9"/>
          <p:cNvSpPr txBox="1"/>
          <p:nvPr/>
        </p:nvSpPr>
        <p:spPr>
          <a:xfrm>
            <a:off x="404589" y="2236864"/>
            <a:ext cx="17478823" cy="7437934"/>
          </a:xfrm>
          <a:prstGeom prst="rect">
            <a:avLst/>
          </a:prstGeom>
        </p:spPr>
        <p:txBody>
          <a:bodyPr lIns="0" tIns="0" rIns="0" bIns="0" rtlCol="0" anchor="t">
            <a:spAutoFit/>
          </a:bodyPr>
          <a:lstStyle/>
          <a:p>
            <a:pPr marL="582930" lvl="1" indent="-291465" algn="l">
              <a:lnSpc>
                <a:spcPts val="2916"/>
              </a:lnSpc>
              <a:buAutoNum type="arabicPeriod"/>
            </a:pPr>
            <a:r>
              <a:rPr lang="en-US" sz="2000" b="1" dirty="0">
                <a:solidFill>
                  <a:srgbClr val="000000"/>
                </a:solidFill>
                <a:latin typeface="Arial Bold"/>
                <a:ea typeface="Arial Bold"/>
                <a:cs typeface="Arial Bold"/>
                <a:sym typeface="Arial Bold"/>
              </a:rPr>
              <a:t>Proposed System:</a:t>
            </a:r>
          </a:p>
          <a:p>
            <a:pPr marL="582930" lvl="1" indent="-291465" algn="l">
              <a:lnSpc>
                <a:spcPts val="2916"/>
              </a:lnSpc>
              <a:buFont typeface="Arial"/>
              <a:buChar char="•"/>
            </a:pPr>
            <a:r>
              <a:rPr lang="en-US" dirty="0">
                <a:solidFill>
                  <a:srgbClr val="000000"/>
                </a:solidFill>
                <a:latin typeface="Arial"/>
                <a:ea typeface="Arial"/>
                <a:cs typeface="Arial"/>
                <a:sym typeface="Arial"/>
              </a:rPr>
              <a:t>The proposed system aims to address the challenge of early detection of heart disease by analyzing patient health parameters and predicting the likelihood of cardiovascular risk. </a:t>
            </a:r>
          </a:p>
          <a:p>
            <a:pPr marL="582930" lvl="1" indent="-291465" algn="l">
              <a:lnSpc>
                <a:spcPts val="2916"/>
              </a:lnSpc>
              <a:buFont typeface="Arial"/>
              <a:buChar char="•"/>
            </a:pPr>
            <a:r>
              <a:rPr lang="en-US" dirty="0">
                <a:solidFill>
                  <a:srgbClr val="000000"/>
                </a:solidFill>
                <a:latin typeface="Arial"/>
                <a:ea typeface="Arial"/>
                <a:cs typeface="Arial"/>
                <a:sym typeface="Arial"/>
              </a:rPr>
              <a:t>This involves leveraging data analytics and machine learning techniques to identify patterns in medical data and support preventive healthcare decisions. </a:t>
            </a:r>
          </a:p>
          <a:p>
            <a:pPr marL="582930" lvl="1" indent="-291465" algn="l">
              <a:lnSpc>
                <a:spcPts val="2916"/>
              </a:lnSpc>
              <a:buFont typeface="Arial"/>
              <a:buChar char="•"/>
            </a:pPr>
            <a:r>
              <a:rPr lang="en-US" dirty="0">
                <a:solidFill>
                  <a:srgbClr val="000000"/>
                </a:solidFill>
                <a:latin typeface="Arial"/>
                <a:ea typeface="Arial"/>
                <a:cs typeface="Arial"/>
                <a:sym typeface="Arial"/>
              </a:rPr>
              <a:t>The solution will consist of the following components:</a:t>
            </a:r>
          </a:p>
          <a:p>
            <a:pPr marL="488632" lvl="1" indent="-244316" algn="l">
              <a:lnSpc>
                <a:spcPts val="2916"/>
              </a:lnSpc>
            </a:pPr>
            <a:endParaRPr lang="en-US" dirty="0">
              <a:solidFill>
                <a:srgbClr val="000000"/>
              </a:solidFill>
              <a:latin typeface="Arial"/>
              <a:ea typeface="Arial"/>
              <a:cs typeface="Arial"/>
              <a:sym typeface="Arial"/>
            </a:endParaRPr>
          </a:p>
          <a:p>
            <a:pPr marL="291465" lvl="1" algn="l">
              <a:lnSpc>
                <a:spcPts val="2916"/>
              </a:lnSpc>
            </a:pPr>
            <a:r>
              <a:rPr lang="en-US" sz="2000" b="1" dirty="0">
                <a:solidFill>
                  <a:srgbClr val="000000"/>
                </a:solidFill>
                <a:latin typeface="Arial Bold"/>
                <a:ea typeface="Arial Bold"/>
                <a:cs typeface="Arial Bold"/>
                <a:sym typeface="Arial Bold"/>
              </a:rPr>
              <a:t>2. Data Collection:</a:t>
            </a:r>
          </a:p>
          <a:p>
            <a:pPr marL="488632" lvl="1" indent="-244316" algn="l">
              <a:lnSpc>
                <a:spcPts val="2916"/>
              </a:lnSpc>
              <a:buFont typeface="Arial"/>
              <a:buChar char="•"/>
            </a:pPr>
            <a:r>
              <a:rPr lang="en-US" dirty="0">
                <a:solidFill>
                  <a:srgbClr val="000000"/>
                </a:solidFill>
                <a:latin typeface="Arial"/>
                <a:ea typeface="Arial"/>
                <a:cs typeface="Arial"/>
                <a:sym typeface="Arial"/>
              </a:rPr>
              <a:t>Collected a publicly available Heart Disease dataset containing patient medical records.</a:t>
            </a:r>
          </a:p>
          <a:p>
            <a:pPr marL="488632" lvl="1" indent="-244316" algn="l">
              <a:lnSpc>
                <a:spcPts val="2916"/>
              </a:lnSpc>
              <a:buFont typeface="Arial"/>
              <a:buChar char="•"/>
            </a:pPr>
            <a:r>
              <a:rPr lang="en-US" dirty="0">
                <a:solidFill>
                  <a:srgbClr val="000000"/>
                </a:solidFill>
                <a:latin typeface="Arial"/>
                <a:ea typeface="Arial"/>
                <a:cs typeface="Arial"/>
                <a:sym typeface="Arial"/>
              </a:rPr>
              <a:t>The dataset includes features such as age, sex, chest pain type, resting blood pressure, cholesterol level, heart rate, ECG results, and other clinical attributes.</a:t>
            </a:r>
          </a:p>
          <a:p>
            <a:pPr marL="488632" lvl="1" indent="-244316" algn="l">
              <a:lnSpc>
                <a:spcPts val="2916"/>
              </a:lnSpc>
              <a:buFont typeface="Arial"/>
              <a:buChar char="•"/>
            </a:pPr>
            <a:r>
              <a:rPr lang="en-US" dirty="0">
                <a:solidFill>
                  <a:srgbClr val="000000"/>
                </a:solidFill>
                <a:latin typeface="Arial"/>
                <a:ea typeface="Arial"/>
                <a:cs typeface="Arial"/>
                <a:sym typeface="Arial"/>
              </a:rPr>
              <a:t>Data represents real-world medical indicators used to assess cardiovascular health.</a:t>
            </a:r>
          </a:p>
          <a:p>
            <a:pPr marL="488632" lvl="1" indent="-244316" algn="l">
              <a:lnSpc>
                <a:spcPts val="2916"/>
              </a:lnSpc>
              <a:buFont typeface="Arial"/>
              <a:buChar char="•"/>
            </a:pPr>
            <a:r>
              <a:rPr lang="en-US" dirty="0">
                <a:solidFill>
                  <a:srgbClr val="000000"/>
                </a:solidFill>
                <a:latin typeface="Arial"/>
                <a:ea typeface="Arial"/>
                <a:cs typeface="Arial"/>
                <a:sym typeface="Arial"/>
              </a:rPr>
              <a:t>The target variable indicates whether a patient is likely to have heart disease (0 = No, 1 = Yes).</a:t>
            </a:r>
          </a:p>
          <a:p>
            <a:pPr algn="l">
              <a:lnSpc>
                <a:spcPts val="2916"/>
              </a:lnSpc>
            </a:pPr>
            <a:endParaRPr lang="en-US" dirty="0">
              <a:solidFill>
                <a:srgbClr val="000000"/>
              </a:solidFill>
              <a:latin typeface="Arial"/>
              <a:ea typeface="Arial"/>
              <a:cs typeface="Arial"/>
              <a:sym typeface="Arial"/>
            </a:endParaRPr>
          </a:p>
          <a:p>
            <a:pPr marL="291465" lvl="1" algn="l">
              <a:lnSpc>
                <a:spcPts val="2916"/>
              </a:lnSpc>
            </a:pPr>
            <a:r>
              <a:rPr lang="en-US" dirty="0">
                <a:solidFill>
                  <a:srgbClr val="000000"/>
                </a:solidFill>
                <a:latin typeface="Arial"/>
                <a:ea typeface="Arial"/>
                <a:cs typeface="Arial"/>
                <a:sym typeface="Arial"/>
              </a:rPr>
              <a:t>3. </a:t>
            </a:r>
            <a:r>
              <a:rPr lang="en-US" sz="2000" b="1" dirty="0">
                <a:solidFill>
                  <a:srgbClr val="000000"/>
                </a:solidFill>
                <a:latin typeface="Arial"/>
                <a:ea typeface="Arial"/>
                <a:cs typeface="Arial"/>
                <a:sym typeface="Arial"/>
              </a:rPr>
              <a:t>D</a:t>
            </a:r>
            <a:r>
              <a:rPr lang="en-US" sz="2000" b="1" dirty="0">
                <a:solidFill>
                  <a:srgbClr val="000000"/>
                </a:solidFill>
                <a:latin typeface="Arial Bold"/>
                <a:ea typeface="Arial Bold"/>
                <a:cs typeface="Arial Bold"/>
                <a:sym typeface="Arial Bold"/>
              </a:rPr>
              <a:t>ata Preprocessing:</a:t>
            </a:r>
          </a:p>
          <a:p>
            <a:pPr marL="582930" lvl="1" indent="-291465" algn="l">
              <a:lnSpc>
                <a:spcPts val="2916"/>
              </a:lnSpc>
              <a:buFont typeface="Arial"/>
              <a:buChar char="•"/>
            </a:pPr>
            <a:r>
              <a:rPr lang="en-US" dirty="0">
                <a:solidFill>
                  <a:srgbClr val="000000"/>
                </a:solidFill>
                <a:latin typeface="Arial"/>
                <a:ea typeface="Arial"/>
                <a:cs typeface="Arial"/>
                <a:sym typeface="Arial"/>
              </a:rPr>
              <a:t>Loaded the dataset into a Pandas Data-Frame for analysis.</a:t>
            </a:r>
          </a:p>
          <a:p>
            <a:pPr marL="582930" lvl="1" indent="-291465" algn="l">
              <a:lnSpc>
                <a:spcPts val="2916"/>
              </a:lnSpc>
              <a:buFont typeface="Arial"/>
              <a:buChar char="•"/>
            </a:pPr>
            <a:r>
              <a:rPr lang="en-US" dirty="0">
                <a:solidFill>
                  <a:srgbClr val="000000"/>
                </a:solidFill>
                <a:latin typeface="Arial"/>
                <a:ea typeface="Arial"/>
                <a:cs typeface="Arial"/>
                <a:sym typeface="Arial"/>
              </a:rPr>
              <a:t>Checked data structure, feature columns, and target label.</a:t>
            </a:r>
          </a:p>
          <a:p>
            <a:pPr marL="582930" lvl="1" indent="-291465" algn="l">
              <a:lnSpc>
                <a:spcPts val="2916"/>
              </a:lnSpc>
              <a:buFont typeface="Arial"/>
              <a:buChar char="•"/>
            </a:pPr>
            <a:r>
              <a:rPr lang="en-US" dirty="0">
                <a:solidFill>
                  <a:srgbClr val="000000"/>
                </a:solidFill>
                <a:latin typeface="Arial"/>
                <a:ea typeface="Arial"/>
                <a:cs typeface="Arial"/>
                <a:sym typeface="Arial"/>
              </a:rPr>
              <a:t>Separated independent variables (X) and dependent variable (Y).</a:t>
            </a:r>
          </a:p>
          <a:p>
            <a:pPr marL="582930" lvl="1" indent="-291465" algn="l">
              <a:lnSpc>
                <a:spcPts val="2916"/>
              </a:lnSpc>
              <a:buFont typeface="Arial"/>
              <a:buChar char="•"/>
            </a:pPr>
            <a:r>
              <a:rPr lang="en-US" dirty="0">
                <a:solidFill>
                  <a:srgbClr val="000000"/>
                </a:solidFill>
                <a:latin typeface="Arial"/>
                <a:ea typeface="Arial"/>
                <a:cs typeface="Arial"/>
                <a:sym typeface="Arial"/>
              </a:rPr>
              <a:t>Applied </a:t>
            </a:r>
            <a:r>
              <a:rPr lang="en-US" dirty="0" err="1">
                <a:solidFill>
                  <a:srgbClr val="000000"/>
                </a:solidFill>
                <a:latin typeface="Arial"/>
                <a:ea typeface="Arial"/>
                <a:cs typeface="Arial"/>
                <a:sym typeface="Arial"/>
              </a:rPr>
              <a:t>train_test_split</a:t>
            </a:r>
            <a:r>
              <a:rPr lang="en-US" dirty="0">
                <a:solidFill>
                  <a:srgbClr val="000000"/>
                </a:solidFill>
                <a:latin typeface="Arial"/>
                <a:ea typeface="Arial"/>
                <a:cs typeface="Arial"/>
                <a:sym typeface="Arial"/>
              </a:rPr>
              <a:t>() to divide data into training and testing sets.</a:t>
            </a:r>
          </a:p>
          <a:p>
            <a:pPr marL="582930" lvl="1" indent="-291465" algn="l">
              <a:lnSpc>
                <a:spcPts val="2916"/>
              </a:lnSpc>
              <a:buFont typeface="Arial"/>
              <a:buChar char="•"/>
            </a:pPr>
            <a:r>
              <a:rPr lang="en-US" dirty="0">
                <a:solidFill>
                  <a:srgbClr val="000000"/>
                </a:solidFill>
                <a:latin typeface="Arial"/>
                <a:ea typeface="Arial"/>
                <a:cs typeface="Arial"/>
                <a:sym typeface="Arial"/>
              </a:rPr>
              <a:t>Used stratified sampling to maintain balanced class distribution.</a:t>
            </a:r>
          </a:p>
          <a:p>
            <a:pPr marL="582930" lvl="1" indent="-291465" algn="l">
              <a:lnSpc>
                <a:spcPts val="2916"/>
              </a:lnSpc>
              <a:buFont typeface="Arial"/>
              <a:buChar char="•"/>
            </a:pPr>
            <a:r>
              <a:rPr lang="en-US" dirty="0">
                <a:solidFill>
                  <a:srgbClr val="000000"/>
                </a:solidFill>
                <a:latin typeface="Arial"/>
                <a:ea typeface="Arial"/>
                <a:cs typeface="Arial"/>
                <a:sym typeface="Arial"/>
              </a:rPr>
              <a:t>Prepared the dataset for training by ensuring consistency and proper formatting.</a:t>
            </a:r>
          </a:p>
          <a:p>
            <a:pPr algn="l">
              <a:lnSpc>
                <a:spcPts val="2916"/>
              </a:lnSpc>
            </a:pPr>
            <a:endParaRPr lang="en-US" sz="2700"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307475" y="1076325"/>
            <a:ext cx="15590520" cy="1849279"/>
          </a:xfrm>
          <a:prstGeom prst="rect">
            <a:avLst/>
          </a:prstGeom>
        </p:spPr>
        <p:txBody>
          <a:bodyPr lIns="0" tIns="0" rIns="0" bIns="0" rtlCol="0" anchor="t">
            <a:spAutoFit/>
          </a:bodyPr>
          <a:lstStyle/>
          <a:p>
            <a:pPr algn="l">
              <a:lnSpc>
                <a:spcPts val="6480"/>
              </a:lnSpc>
            </a:pPr>
            <a:r>
              <a:rPr lang="en-US" sz="6000" b="1" dirty="0">
                <a:solidFill>
                  <a:srgbClr val="000000"/>
                </a:solidFill>
                <a:latin typeface="Arial Bold"/>
                <a:ea typeface="Arial Bold"/>
                <a:cs typeface="Arial Bold"/>
                <a:sym typeface="Arial Bold"/>
              </a:rPr>
              <a:t>Proposed Solution:</a:t>
            </a:r>
          </a:p>
        </p:txBody>
      </p:sp>
      <p:sp>
        <p:nvSpPr>
          <p:cNvPr id="9" name="TextBox 9"/>
          <p:cNvSpPr txBox="1"/>
          <p:nvPr/>
        </p:nvSpPr>
        <p:spPr>
          <a:xfrm>
            <a:off x="420052" y="1655213"/>
            <a:ext cx="17478823" cy="7437934"/>
          </a:xfrm>
          <a:prstGeom prst="rect">
            <a:avLst/>
          </a:prstGeom>
        </p:spPr>
        <p:txBody>
          <a:bodyPr lIns="0" tIns="0" rIns="0" bIns="0" rtlCol="0" anchor="t">
            <a:spAutoFit/>
          </a:bodyPr>
          <a:lstStyle/>
          <a:p>
            <a:pPr algn="l">
              <a:lnSpc>
                <a:spcPts val="2916"/>
              </a:lnSpc>
            </a:pPr>
            <a:endParaRPr sz="2000" dirty="0"/>
          </a:p>
          <a:p>
            <a:pPr marL="291465" lvl="1" algn="l">
              <a:lnSpc>
                <a:spcPts val="2916"/>
              </a:lnSpc>
            </a:pPr>
            <a:r>
              <a:rPr lang="en-US" sz="2000" b="1" dirty="0">
                <a:solidFill>
                  <a:srgbClr val="000000"/>
                </a:solidFill>
                <a:latin typeface="Arial Bold"/>
                <a:ea typeface="Arial Bold"/>
                <a:cs typeface="Arial Bold"/>
                <a:sym typeface="Arial Bold"/>
              </a:rPr>
              <a:t>4. Machine Learning Algorithm:</a:t>
            </a:r>
          </a:p>
          <a:p>
            <a:pPr marL="582930" lvl="1" indent="-291465" algn="l">
              <a:lnSpc>
                <a:spcPts val="2916"/>
              </a:lnSpc>
              <a:buFont typeface="Arial"/>
              <a:buChar char="•"/>
            </a:pPr>
            <a:r>
              <a:rPr lang="en-US" dirty="0">
                <a:solidFill>
                  <a:srgbClr val="000000"/>
                </a:solidFill>
                <a:latin typeface="Arial"/>
                <a:ea typeface="Arial"/>
                <a:cs typeface="Arial"/>
                <a:sym typeface="Arial"/>
              </a:rPr>
              <a:t>Implemented Logistic Regression for binary classification of heart disease risk.</a:t>
            </a:r>
          </a:p>
          <a:p>
            <a:pPr marL="582930" lvl="1" indent="-291465" algn="l">
              <a:lnSpc>
                <a:spcPts val="2916"/>
              </a:lnSpc>
              <a:buFont typeface="Arial"/>
              <a:buChar char="•"/>
            </a:pPr>
            <a:r>
              <a:rPr lang="en-US" dirty="0">
                <a:solidFill>
                  <a:srgbClr val="000000"/>
                </a:solidFill>
                <a:latin typeface="Arial"/>
                <a:ea typeface="Arial"/>
                <a:cs typeface="Arial"/>
                <a:sym typeface="Arial"/>
              </a:rPr>
              <a:t>Selected Logistic Regression due to its effectiveness in medical prediction problems.</a:t>
            </a:r>
          </a:p>
          <a:p>
            <a:pPr marL="582930" lvl="1" indent="-291465" algn="l">
              <a:lnSpc>
                <a:spcPts val="2916"/>
              </a:lnSpc>
              <a:buFont typeface="Arial"/>
              <a:buChar char="•"/>
            </a:pPr>
            <a:r>
              <a:rPr lang="en-US" dirty="0">
                <a:solidFill>
                  <a:srgbClr val="000000"/>
                </a:solidFill>
                <a:latin typeface="Arial"/>
                <a:ea typeface="Arial"/>
                <a:cs typeface="Arial"/>
                <a:sym typeface="Arial"/>
              </a:rPr>
              <a:t>Trained the model using the training dataset with the fit() method.</a:t>
            </a:r>
          </a:p>
          <a:p>
            <a:pPr marL="582930" lvl="1" indent="-291465" algn="l">
              <a:lnSpc>
                <a:spcPts val="2916"/>
              </a:lnSpc>
              <a:buFont typeface="Arial"/>
              <a:buChar char="•"/>
            </a:pPr>
            <a:r>
              <a:rPr lang="en-US" dirty="0">
                <a:solidFill>
                  <a:srgbClr val="000000"/>
                </a:solidFill>
                <a:latin typeface="Arial"/>
                <a:ea typeface="Arial"/>
                <a:cs typeface="Arial"/>
                <a:sym typeface="Arial"/>
              </a:rPr>
              <a:t>Utilized clinical attributes like chest pain type, max heart rate, cholesterol, and ST depression as predictive features.</a:t>
            </a:r>
          </a:p>
          <a:p>
            <a:pPr marL="582930" lvl="1" indent="-291465" algn="l">
              <a:lnSpc>
                <a:spcPts val="2916"/>
              </a:lnSpc>
              <a:buFont typeface="Arial"/>
              <a:buChar char="•"/>
            </a:pPr>
            <a:r>
              <a:rPr lang="en-US" dirty="0">
                <a:solidFill>
                  <a:srgbClr val="000000"/>
                </a:solidFill>
                <a:latin typeface="Arial"/>
                <a:ea typeface="Arial"/>
                <a:cs typeface="Arial"/>
                <a:sym typeface="Arial"/>
              </a:rPr>
              <a:t>Generated predictions using the trained model for new input data.</a:t>
            </a:r>
          </a:p>
          <a:p>
            <a:pPr algn="l">
              <a:lnSpc>
                <a:spcPts val="2916"/>
              </a:lnSpc>
            </a:pPr>
            <a:endParaRPr lang="en-US" dirty="0">
              <a:solidFill>
                <a:srgbClr val="000000"/>
              </a:solidFill>
              <a:latin typeface="Arial"/>
              <a:ea typeface="Arial"/>
              <a:cs typeface="Arial"/>
              <a:sym typeface="Arial"/>
            </a:endParaRPr>
          </a:p>
          <a:p>
            <a:pPr marL="291465" lvl="1" algn="l">
              <a:lnSpc>
                <a:spcPts val="2916"/>
              </a:lnSpc>
            </a:pPr>
            <a:r>
              <a:rPr lang="en-US" b="1" dirty="0">
                <a:solidFill>
                  <a:srgbClr val="000000"/>
                </a:solidFill>
                <a:latin typeface="Arial Bold"/>
                <a:ea typeface="Arial Bold"/>
                <a:cs typeface="Arial Bold"/>
                <a:sym typeface="Arial Bold"/>
              </a:rPr>
              <a:t>5. </a:t>
            </a:r>
            <a:r>
              <a:rPr lang="en-US" sz="2000" b="1" dirty="0">
                <a:solidFill>
                  <a:srgbClr val="000000"/>
                </a:solidFill>
                <a:latin typeface="Arial Bold"/>
                <a:ea typeface="Arial Bold"/>
                <a:cs typeface="Arial Bold"/>
                <a:sym typeface="Arial Bold"/>
              </a:rPr>
              <a:t>Evaluation:</a:t>
            </a:r>
          </a:p>
          <a:p>
            <a:pPr marL="582930" lvl="1" indent="-291465" algn="l">
              <a:lnSpc>
                <a:spcPts val="2916"/>
              </a:lnSpc>
              <a:buFont typeface="Arial"/>
              <a:buChar char="•"/>
            </a:pPr>
            <a:r>
              <a:rPr lang="en-US" dirty="0">
                <a:solidFill>
                  <a:srgbClr val="000000"/>
                </a:solidFill>
                <a:latin typeface="Arial"/>
                <a:ea typeface="Arial"/>
                <a:cs typeface="Arial"/>
                <a:sym typeface="Arial"/>
              </a:rPr>
              <a:t>Evaluated model performance using Accuracy Score.</a:t>
            </a:r>
          </a:p>
          <a:p>
            <a:pPr marL="582930" lvl="1" indent="-291465" algn="l">
              <a:lnSpc>
                <a:spcPts val="2916"/>
              </a:lnSpc>
              <a:buFont typeface="Arial"/>
              <a:buChar char="•"/>
            </a:pPr>
            <a:r>
              <a:rPr lang="en-US" dirty="0">
                <a:solidFill>
                  <a:srgbClr val="000000"/>
                </a:solidFill>
                <a:latin typeface="Arial"/>
                <a:ea typeface="Arial"/>
                <a:cs typeface="Arial"/>
                <a:sym typeface="Arial"/>
              </a:rPr>
              <a:t>Calculated accuracy for both training and testing datasets.</a:t>
            </a:r>
          </a:p>
          <a:p>
            <a:pPr marL="582930" lvl="1" indent="-291465" algn="l">
              <a:lnSpc>
                <a:spcPts val="2916"/>
              </a:lnSpc>
              <a:buFont typeface="Arial"/>
              <a:buChar char="•"/>
            </a:pPr>
            <a:r>
              <a:rPr lang="en-US" dirty="0">
                <a:solidFill>
                  <a:srgbClr val="000000"/>
                </a:solidFill>
                <a:latin typeface="Arial"/>
                <a:ea typeface="Arial"/>
                <a:cs typeface="Arial"/>
                <a:sym typeface="Arial"/>
              </a:rPr>
              <a:t>Compared performance metrics to ensure good generalization.</a:t>
            </a:r>
          </a:p>
          <a:p>
            <a:pPr marL="582930" lvl="1" indent="-291465" algn="l">
              <a:lnSpc>
                <a:spcPts val="2916"/>
              </a:lnSpc>
              <a:buFont typeface="Arial"/>
              <a:buChar char="•"/>
            </a:pPr>
            <a:r>
              <a:rPr lang="en-US" dirty="0">
                <a:solidFill>
                  <a:srgbClr val="000000"/>
                </a:solidFill>
                <a:latin typeface="Arial"/>
                <a:ea typeface="Arial"/>
                <a:cs typeface="Arial"/>
                <a:sym typeface="Arial"/>
              </a:rPr>
              <a:t>Confirmed that the model provides reliable classification results.</a:t>
            </a:r>
          </a:p>
          <a:p>
            <a:pPr algn="l">
              <a:lnSpc>
                <a:spcPts val="2916"/>
              </a:lnSpc>
            </a:pPr>
            <a:endParaRPr lang="en-US" dirty="0">
              <a:solidFill>
                <a:srgbClr val="000000"/>
              </a:solidFill>
              <a:latin typeface="Arial"/>
              <a:ea typeface="Arial"/>
              <a:cs typeface="Arial"/>
              <a:sym typeface="Arial"/>
            </a:endParaRPr>
          </a:p>
          <a:p>
            <a:pPr marL="291465" lvl="1" algn="l">
              <a:lnSpc>
                <a:spcPts val="2916"/>
              </a:lnSpc>
            </a:pPr>
            <a:r>
              <a:rPr lang="en-US" b="1" dirty="0">
                <a:solidFill>
                  <a:srgbClr val="000000"/>
                </a:solidFill>
                <a:latin typeface="Arial Bold"/>
                <a:ea typeface="Arial Bold"/>
                <a:cs typeface="Arial Bold"/>
                <a:sym typeface="Arial Bold"/>
              </a:rPr>
              <a:t>6. </a:t>
            </a:r>
            <a:r>
              <a:rPr lang="en-US" sz="2000" b="1" dirty="0">
                <a:solidFill>
                  <a:srgbClr val="000000"/>
                </a:solidFill>
                <a:latin typeface="Arial Bold"/>
                <a:ea typeface="Arial Bold"/>
                <a:cs typeface="Arial Bold"/>
                <a:sym typeface="Arial Bold"/>
              </a:rPr>
              <a:t>Result:</a:t>
            </a:r>
          </a:p>
          <a:p>
            <a:pPr marL="582930" lvl="1" indent="-291465" algn="l">
              <a:lnSpc>
                <a:spcPts val="2916"/>
              </a:lnSpc>
              <a:buFont typeface="Arial"/>
              <a:buChar char="•"/>
            </a:pPr>
            <a:r>
              <a:rPr lang="en-US" dirty="0">
                <a:solidFill>
                  <a:srgbClr val="000000"/>
                </a:solidFill>
                <a:latin typeface="Arial"/>
                <a:ea typeface="Arial"/>
                <a:cs typeface="Arial"/>
                <a:sym typeface="Arial"/>
              </a:rPr>
              <a:t>The developed system successfully predicts the likelihood of heart disease based on patient health parameters.</a:t>
            </a:r>
          </a:p>
          <a:p>
            <a:pPr marL="582930" lvl="1" indent="-291465" algn="l">
              <a:lnSpc>
                <a:spcPts val="2916"/>
              </a:lnSpc>
              <a:buFont typeface="Arial"/>
              <a:buChar char="•"/>
            </a:pPr>
            <a:r>
              <a:rPr lang="en-US" dirty="0">
                <a:solidFill>
                  <a:srgbClr val="000000"/>
                </a:solidFill>
                <a:latin typeface="Arial"/>
                <a:ea typeface="Arial"/>
                <a:cs typeface="Arial"/>
                <a:sym typeface="Arial"/>
              </a:rPr>
              <a:t>Logistic Regression achieved strong performance in classifying patients into risk categories.</a:t>
            </a:r>
          </a:p>
          <a:p>
            <a:pPr marL="582930" lvl="1" indent="-291465" algn="l">
              <a:lnSpc>
                <a:spcPts val="2916"/>
              </a:lnSpc>
              <a:buFont typeface="Arial"/>
              <a:buChar char="•"/>
            </a:pPr>
            <a:r>
              <a:rPr lang="en-US" dirty="0">
                <a:solidFill>
                  <a:srgbClr val="000000"/>
                </a:solidFill>
                <a:latin typeface="Arial"/>
                <a:ea typeface="Arial"/>
                <a:cs typeface="Arial"/>
                <a:sym typeface="Arial"/>
              </a:rPr>
              <a:t>Important medical indicators contributing to prediction were identified through analysis.</a:t>
            </a:r>
          </a:p>
          <a:p>
            <a:pPr marL="582930" lvl="1" indent="-291465" algn="l">
              <a:lnSpc>
                <a:spcPts val="2916"/>
              </a:lnSpc>
              <a:buFont typeface="Arial"/>
              <a:buChar char="•"/>
            </a:pPr>
            <a:r>
              <a:rPr lang="en-US" dirty="0">
                <a:solidFill>
                  <a:srgbClr val="000000"/>
                </a:solidFill>
                <a:latin typeface="Arial"/>
                <a:ea typeface="Arial"/>
                <a:cs typeface="Arial"/>
                <a:sym typeface="Arial"/>
              </a:rPr>
              <a:t>The system demonstrates potential as an early screening tool to support healthcare professionals and promote preventive medical awareness.</a:t>
            </a:r>
          </a:p>
          <a:p>
            <a:pPr algn="l">
              <a:lnSpc>
                <a:spcPts val="2916"/>
              </a:lnSpc>
            </a:pPr>
            <a:endParaRPr lang="en-US" sz="2700"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315776"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System Approach:</a:t>
            </a:r>
          </a:p>
        </p:txBody>
      </p:sp>
      <p:sp>
        <p:nvSpPr>
          <p:cNvPr id="9" name="TextBox 9"/>
          <p:cNvSpPr txBox="1"/>
          <p:nvPr/>
        </p:nvSpPr>
        <p:spPr>
          <a:xfrm>
            <a:off x="811475" y="2343150"/>
            <a:ext cx="16678770" cy="7386638"/>
          </a:xfrm>
          <a:prstGeom prst="rect">
            <a:avLst/>
          </a:prstGeom>
        </p:spPr>
        <p:txBody>
          <a:bodyPr lIns="0" tIns="0" rIns="0" bIns="0" rtlCol="0" anchor="t">
            <a:spAutoFit/>
          </a:bodyPr>
          <a:lstStyle/>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system approach defines the methodology used to design and implement the Heart Disease Prediction model. It includes the technical requirements, tools, and libraries needed to build an efficient machine learning solution for early risk prediction.</a:t>
            </a:r>
          </a:p>
          <a:p>
            <a:pPr algn="l">
              <a:lnSpc>
                <a:spcPts val="3564"/>
              </a:lnSpc>
            </a:pPr>
            <a:endParaRPr lang="en-US" dirty="0">
              <a:solidFill>
                <a:srgbClr val="000000"/>
              </a:solidFill>
              <a:latin typeface="Arial" panose="020B0604020202020204" pitchFamily="34" charset="0"/>
              <a:ea typeface="ITC Franklin Gothic LT"/>
              <a:cs typeface="Arial" panose="020B0604020202020204" pitchFamily="34" charset="0"/>
              <a:sym typeface="ITC Franklin Gothic LT"/>
            </a:endParaRPr>
          </a:p>
          <a:p>
            <a:pPr marL="712470" lvl="1" indent="-356235" algn="l">
              <a:lnSpc>
                <a:spcPts val="3564"/>
              </a:lnSpc>
              <a:buAutoNum type="arabicPeriod"/>
            </a:pPr>
            <a:r>
              <a:rPr lang="en-US"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System Requirements:</a:t>
            </a:r>
          </a:p>
          <a:p>
            <a:pPr algn="l">
              <a:lnSpc>
                <a:spcPts val="3564"/>
              </a:lnSpc>
            </a:pPr>
            <a:r>
              <a:rPr lang="en-US"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i</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Hardware Requirements:</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Processor: Intel i3/i5 or higher</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RAM: Minimum 4 GB (8 GB recommended)</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Storage: 10 GB free space</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Internet connection for Google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Colab</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execution</a:t>
            </a:r>
          </a:p>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ii)Software Requirements:</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Python (3.x)</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Google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Colab</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Jupyter</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Notebook</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Web Browser (Chrome recommended)</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Operating System: Windows / Linux / macOS</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849001" y="2270368"/>
            <a:ext cx="15590520" cy="4154984"/>
          </a:xfrm>
          <a:prstGeom prst="rect">
            <a:avLst/>
          </a:prstGeom>
        </p:spPr>
        <p:txBody>
          <a:bodyPr lIns="0" tIns="0" rIns="0" bIns="0" rtlCol="0" anchor="t">
            <a:spAutoFit/>
          </a:bodyPr>
          <a:lstStyle/>
          <a:p>
            <a:pPr marL="356235" lvl="1" algn="l">
              <a:lnSpc>
                <a:spcPts val="3564"/>
              </a:lnSpc>
            </a:pPr>
            <a:r>
              <a:rPr lang="en-US" b="1" dirty="0">
                <a:solidFill>
                  <a:srgbClr val="000000"/>
                </a:solidFill>
                <a:latin typeface="Arial Bold"/>
                <a:ea typeface="Arial Bold"/>
                <a:cs typeface="Arial Bold"/>
                <a:sym typeface="Arial Bold"/>
              </a:rPr>
              <a:t>2. Libraries Required to Build the Model:</a:t>
            </a:r>
          </a:p>
          <a:p>
            <a:pPr marL="712470" lvl="1" indent="-356235" algn="l">
              <a:lnSpc>
                <a:spcPts val="3564"/>
              </a:lnSpc>
              <a:buFont typeface="Arial"/>
              <a:buChar char="•"/>
            </a:pPr>
            <a:r>
              <a:rPr lang="en-US" dirty="0">
                <a:solidFill>
                  <a:srgbClr val="000000"/>
                </a:solidFill>
                <a:latin typeface="Arial"/>
                <a:ea typeface="Arial"/>
                <a:cs typeface="Arial"/>
                <a:sym typeface="Arial"/>
              </a:rPr>
              <a:t>Pandas → Data loading and preprocessing</a:t>
            </a:r>
          </a:p>
          <a:p>
            <a:pPr marL="712470" lvl="1" indent="-356235" algn="l">
              <a:lnSpc>
                <a:spcPts val="3564"/>
              </a:lnSpc>
              <a:buFont typeface="Arial"/>
              <a:buChar char="•"/>
            </a:pPr>
            <a:r>
              <a:rPr lang="en-US" dirty="0">
                <a:solidFill>
                  <a:srgbClr val="000000"/>
                </a:solidFill>
                <a:latin typeface="Arial"/>
                <a:ea typeface="Arial"/>
                <a:cs typeface="Arial"/>
                <a:sym typeface="Arial"/>
              </a:rPr>
              <a:t>NumPy → Numerical operations</a:t>
            </a:r>
          </a:p>
          <a:p>
            <a:pPr marL="712470" lvl="1" indent="-356235" algn="l">
              <a:lnSpc>
                <a:spcPts val="3564"/>
              </a:lnSpc>
              <a:buFont typeface="Arial"/>
              <a:buChar char="•"/>
            </a:pPr>
            <a:r>
              <a:rPr lang="en-US" dirty="0">
                <a:solidFill>
                  <a:srgbClr val="000000"/>
                </a:solidFill>
                <a:latin typeface="Arial"/>
                <a:ea typeface="Arial"/>
                <a:cs typeface="Arial"/>
                <a:sym typeface="Arial"/>
              </a:rPr>
              <a:t>Matplotlib → Data visualization</a:t>
            </a:r>
          </a:p>
          <a:p>
            <a:pPr marL="712470" lvl="1" indent="-356235" algn="l">
              <a:lnSpc>
                <a:spcPts val="3564"/>
              </a:lnSpc>
              <a:buFont typeface="Arial"/>
              <a:buChar char="•"/>
            </a:pPr>
            <a:r>
              <a:rPr lang="en-US" dirty="0">
                <a:solidFill>
                  <a:srgbClr val="000000"/>
                </a:solidFill>
                <a:latin typeface="Arial"/>
                <a:ea typeface="Arial"/>
                <a:cs typeface="Arial"/>
                <a:sym typeface="Arial"/>
              </a:rPr>
              <a:t>Scikit-learn (</a:t>
            </a:r>
            <a:r>
              <a:rPr lang="en-US" dirty="0" err="1">
                <a:solidFill>
                  <a:srgbClr val="000000"/>
                </a:solidFill>
                <a:latin typeface="Arial"/>
                <a:ea typeface="Arial"/>
                <a:cs typeface="Arial"/>
                <a:sym typeface="Arial"/>
              </a:rPr>
              <a:t>sklearn</a:t>
            </a:r>
            <a:r>
              <a:rPr lang="en-US" dirty="0">
                <a:solidFill>
                  <a:srgbClr val="000000"/>
                </a:solidFill>
                <a:latin typeface="Arial"/>
                <a:ea typeface="Arial"/>
                <a:cs typeface="Arial"/>
                <a:sym typeface="Arial"/>
              </a:rPr>
              <a:t>) → Machine learning model implementation</a:t>
            </a:r>
          </a:p>
          <a:p>
            <a:pPr marL="1424940" lvl="2" indent="-474980" algn="l">
              <a:lnSpc>
                <a:spcPts val="3564"/>
              </a:lnSpc>
              <a:buFont typeface="Arial"/>
              <a:buChar char="⚬"/>
            </a:pPr>
            <a:r>
              <a:rPr lang="en-US" dirty="0" err="1">
                <a:solidFill>
                  <a:srgbClr val="000000"/>
                </a:solidFill>
                <a:latin typeface="Arial"/>
                <a:ea typeface="Arial"/>
                <a:cs typeface="Arial"/>
                <a:sym typeface="Arial"/>
              </a:rPr>
              <a:t>train_test_split</a:t>
            </a:r>
            <a:r>
              <a:rPr lang="en-US" dirty="0">
                <a:solidFill>
                  <a:srgbClr val="000000"/>
                </a:solidFill>
                <a:latin typeface="Arial"/>
                <a:ea typeface="Arial"/>
                <a:cs typeface="Arial"/>
                <a:sym typeface="Arial"/>
              </a:rPr>
              <a:t> for data splitting</a:t>
            </a:r>
          </a:p>
          <a:p>
            <a:pPr marL="1424940" lvl="2" indent="-474980" algn="l">
              <a:lnSpc>
                <a:spcPts val="3564"/>
              </a:lnSpc>
              <a:buFont typeface="Arial"/>
              <a:buChar char="⚬"/>
            </a:pPr>
            <a:r>
              <a:rPr lang="en-US" dirty="0">
                <a:solidFill>
                  <a:srgbClr val="000000"/>
                </a:solidFill>
                <a:latin typeface="Arial"/>
                <a:ea typeface="Arial"/>
                <a:cs typeface="Arial"/>
                <a:sym typeface="Arial"/>
              </a:rPr>
              <a:t>LogisticRegression for classification</a:t>
            </a:r>
          </a:p>
          <a:p>
            <a:pPr marL="1424940" lvl="2" indent="-474980" algn="l">
              <a:lnSpc>
                <a:spcPts val="3564"/>
              </a:lnSpc>
              <a:buFont typeface="Arial"/>
              <a:buChar char="⚬"/>
            </a:pPr>
            <a:r>
              <a:rPr lang="en-US" dirty="0" err="1">
                <a:solidFill>
                  <a:srgbClr val="000000"/>
                </a:solidFill>
                <a:latin typeface="Arial"/>
                <a:ea typeface="Arial"/>
                <a:cs typeface="Arial"/>
                <a:sym typeface="Arial"/>
              </a:rPr>
              <a:t>accuracy_score</a:t>
            </a:r>
            <a:r>
              <a:rPr lang="en-US" dirty="0">
                <a:solidFill>
                  <a:srgbClr val="000000"/>
                </a:solidFill>
                <a:latin typeface="Arial"/>
                <a:ea typeface="Arial"/>
                <a:cs typeface="Arial"/>
                <a:sym typeface="Arial"/>
              </a:rPr>
              <a:t> for evaluation</a:t>
            </a:r>
          </a:p>
          <a:p>
            <a:pPr algn="l">
              <a:lnSpc>
                <a:spcPts val="3564"/>
              </a:lnSpc>
            </a:pPr>
            <a:endParaRPr lang="en-US" sz="3300" dirty="0">
              <a:solidFill>
                <a:srgbClr val="000000"/>
              </a:solidFill>
              <a:latin typeface="Arial"/>
              <a:ea typeface="Arial"/>
              <a:cs typeface="Arial"/>
              <a:sym typeface="Arial"/>
            </a:endParaRPr>
          </a:p>
        </p:txBody>
      </p:sp>
      <p:sp>
        <p:nvSpPr>
          <p:cNvPr id="9" name="Freeform 9"/>
          <p:cNvSpPr/>
          <p:nvPr/>
        </p:nvSpPr>
        <p:spPr>
          <a:xfrm>
            <a:off x="1204168" y="6070251"/>
            <a:ext cx="9696873" cy="3586074"/>
          </a:xfrm>
          <a:custGeom>
            <a:avLst/>
            <a:gdLst/>
            <a:ahLst/>
            <a:cxnLst/>
            <a:rect l="l" t="t" r="r" b="b"/>
            <a:pathLst>
              <a:path w="9696873" h="3586074">
                <a:moveTo>
                  <a:pt x="0" y="0"/>
                </a:moveTo>
                <a:lnTo>
                  <a:pt x="9696873" y="0"/>
                </a:lnTo>
                <a:lnTo>
                  <a:pt x="9696873" y="3586074"/>
                </a:lnTo>
                <a:lnTo>
                  <a:pt x="0" y="3586074"/>
                </a:lnTo>
                <a:lnTo>
                  <a:pt x="0" y="0"/>
                </a:lnTo>
                <a:close/>
              </a:path>
            </a:pathLst>
          </a:custGeom>
          <a:blipFill>
            <a:blip r:embed="rId3"/>
            <a:stretch>
              <a:fillRect/>
            </a:stretch>
          </a:blipFill>
        </p:spPr>
        <p:txBody>
          <a:bodyPr/>
          <a:lstStyle/>
          <a:p>
            <a:endParaRPr lang="en-IN"/>
          </a:p>
        </p:txBody>
      </p:sp>
      <p:sp>
        <p:nvSpPr>
          <p:cNvPr id="10" name="TextBox 10"/>
          <p:cNvSpPr txBox="1"/>
          <p:nvPr/>
        </p:nvSpPr>
        <p:spPr>
          <a:xfrm>
            <a:off x="315776"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System Approach: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Freeform 8"/>
          <p:cNvSpPr/>
          <p:nvPr/>
        </p:nvSpPr>
        <p:spPr>
          <a:xfrm>
            <a:off x="1028700" y="3456118"/>
            <a:ext cx="16230600" cy="5066404"/>
          </a:xfrm>
          <a:custGeom>
            <a:avLst/>
            <a:gdLst/>
            <a:ahLst/>
            <a:cxnLst/>
            <a:rect l="l" t="t" r="r" b="b"/>
            <a:pathLst>
              <a:path w="16230600" h="5066404">
                <a:moveTo>
                  <a:pt x="0" y="0"/>
                </a:moveTo>
                <a:lnTo>
                  <a:pt x="16230600" y="0"/>
                </a:lnTo>
                <a:lnTo>
                  <a:pt x="16230600" y="5066404"/>
                </a:lnTo>
                <a:lnTo>
                  <a:pt x="0" y="5066404"/>
                </a:lnTo>
                <a:lnTo>
                  <a:pt x="0" y="0"/>
                </a:lnTo>
                <a:close/>
              </a:path>
            </a:pathLst>
          </a:custGeom>
          <a:blipFill>
            <a:blip r:embed="rId3"/>
            <a:stretch>
              <a:fillRect t="-51562" b="-61875"/>
            </a:stretch>
          </a:blipFill>
        </p:spPr>
        <p:txBody>
          <a:bodyPr/>
          <a:lstStyle/>
          <a:p>
            <a:endParaRPr lang="en-IN"/>
          </a:p>
        </p:txBody>
      </p:sp>
      <p:sp>
        <p:nvSpPr>
          <p:cNvPr id="9" name="TextBox 9"/>
          <p:cNvSpPr txBox="1"/>
          <p:nvPr/>
        </p:nvSpPr>
        <p:spPr>
          <a:xfrm>
            <a:off x="315776"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System Approach:</a:t>
            </a:r>
          </a:p>
        </p:txBody>
      </p:sp>
      <p:sp>
        <p:nvSpPr>
          <p:cNvPr id="10" name="TextBox 10"/>
          <p:cNvSpPr txBox="1"/>
          <p:nvPr/>
        </p:nvSpPr>
        <p:spPr>
          <a:xfrm>
            <a:off x="291615" y="2161498"/>
            <a:ext cx="3503437" cy="500843"/>
          </a:xfrm>
          <a:prstGeom prst="rect">
            <a:avLst/>
          </a:prstGeom>
        </p:spPr>
        <p:txBody>
          <a:bodyPr lIns="0" tIns="0" rIns="0" bIns="0" rtlCol="0" anchor="t">
            <a:spAutoFit/>
          </a:bodyPr>
          <a:lstStyle/>
          <a:p>
            <a:pPr algn="ctr">
              <a:lnSpc>
                <a:spcPts val="4620"/>
              </a:lnSpc>
            </a:pPr>
            <a:r>
              <a:rPr lang="en-US" sz="2000" b="1" dirty="0">
                <a:solidFill>
                  <a:srgbClr val="000000"/>
                </a:solidFill>
                <a:latin typeface="Arial Bold"/>
                <a:ea typeface="Arial Bold"/>
                <a:cs typeface="Arial Bold"/>
                <a:sym typeface="Arial Bold"/>
              </a:rPr>
              <a:t>3.Flowchart: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1028700" y="2176701"/>
            <a:ext cx="16230600" cy="2769989"/>
          </a:xfrm>
          <a:prstGeom prst="rect">
            <a:avLst/>
          </a:prstGeom>
        </p:spPr>
        <p:txBody>
          <a:bodyPr lIns="0" tIns="0" rIns="0" bIns="0" rtlCol="0" anchor="t">
            <a:spAutoFit/>
          </a:bodyPr>
          <a:lstStyle/>
          <a:p>
            <a:pPr algn="l">
              <a:lnSpc>
                <a:spcPts val="3564"/>
              </a:lnSpc>
            </a:pPr>
            <a:r>
              <a:rPr lang="en-US" sz="2000" dirty="0">
                <a:solidFill>
                  <a:srgbClr val="000000"/>
                </a:solidFill>
                <a:latin typeface="Arial" panose="020B0604020202020204" pitchFamily="34" charset="0"/>
                <a:ea typeface="ITC Franklin Gothic LT"/>
                <a:cs typeface="Arial" panose="020B0604020202020204" pitchFamily="34" charset="0"/>
                <a:sym typeface="ITC Franklin Gothic LT"/>
              </a:rPr>
              <a:t>A</a:t>
            </a:r>
            <a:r>
              <a:rPr lang="en-US" sz="2000"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lgorithm Selection:</a:t>
            </a:r>
          </a:p>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Logistic Regression algorithm was selected for this project to predict the presence of heart disease. Logistic Regression is a supervised machine learning classification technique well suited for binary outcomes, making it ideal for predicting whether a patient is at risk (1) or not at risk (0). It is computationally efficient, easy to interpret in medical applications, and performs well on structured healthcare datasets containing numerical and categorical features</a:t>
            </a:r>
            <a:r>
              <a:rPr lang="en-US" sz="3300" dirty="0">
                <a:solidFill>
                  <a:srgbClr val="000000"/>
                </a:solidFill>
                <a:latin typeface="ITC Franklin Gothic LT"/>
                <a:ea typeface="ITC Franklin Gothic LT"/>
                <a:cs typeface="ITC Franklin Gothic LT"/>
                <a:sym typeface="ITC Franklin Gothic LT"/>
              </a:rPr>
              <a:t>.</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
        <p:nvSpPr>
          <p:cNvPr id="9" name="Freeform 9"/>
          <p:cNvSpPr/>
          <p:nvPr/>
        </p:nvSpPr>
        <p:spPr>
          <a:xfrm>
            <a:off x="1028700" y="4782055"/>
            <a:ext cx="11301259" cy="4308605"/>
          </a:xfrm>
          <a:custGeom>
            <a:avLst/>
            <a:gdLst/>
            <a:ahLst/>
            <a:cxnLst/>
            <a:rect l="l" t="t" r="r" b="b"/>
            <a:pathLst>
              <a:path w="11301259" h="4308605">
                <a:moveTo>
                  <a:pt x="0" y="0"/>
                </a:moveTo>
                <a:lnTo>
                  <a:pt x="11301259" y="0"/>
                </a:lnTo>
                <a:lnTo>
                  <a:pt x="11301259" y="4308605"/>
                </a:lnTo>
                <a:lnTo>
                  <a:pt x="0" y="4308605"/>
                </a:lnTo>
                <a:lnTo>
                  <a:pt x="0" y="0"/>
                </a:lnTo>
                <a:close/>
              </a:path>
            </a:pathLst>
          </a:custGeom>
          <a:blipFill>
            <a:blip r:embed="rId3"/>
            <a:stretch>
              <a:fillRect/>
            </a:stretch>
          </a:blipFill>
        </p:spPr>
        <p:txBody>
          <a:bodyPr/>
          <a:lstStyle/>
          <a:p>
            <a:endParaRPr lang="en-IN" dirty="0"/>
          </a:p>
        </p:txBody>
      </p:sp>
      <p:sp>
        <p:nvSpPr>
          <p:cNvPr id="10" name="TextBox 10"/>
          <p:cNvSpPr txBox="1"/>
          <p:nvPr/>
        </p:nvSpPr>
        <p:spPr>
          <a:xfrm>
            <a:off x="275394"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Algorithm: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275394"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Algorithm:</a:t>
            </a:r>
          </a:p>
        </p:txBody>
      </p:sp>
      <p:sp>
        <p:nvSpPr>
          <p:cNvPr id="9" name="TextBox 9"/>
          <p:cNvSpPr txBox="1"/>
          <p:nvPr/>
        </p:nvSpPr>
        <p:spPr>
          <a:xfrm>
            <a:off x="1267515" y="2327529"/>
            <a:ext cx="16230600" cy="6463308"/>
          </a:xfrm>
          <a:prstGeom prst="rect">
            <a:avLst/>
          </a:prstGeom>
        </p:spPr>
        <p:txBody>
          <a:bodyPr lIns="0" tIns="0" rIns="0" bIns="0" rtlCol="0" anchor="t">
            <a:spAutoFit/>
          </a:bodyPr>
          <a:lstStyle/>
          <a:p>
            <a:pPr algn="l">
              <a:lnSpc>
                <a:spcPts val="3564"/>
              </a:lnSpc>
            </a:pPr>
            <a:r>
              <a:rPr lang="en-US" sz="2000"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Data Input:</a:t>
            </a:r>
          </a:p>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algorithm uses patient health parameters as input features, including:</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Age and gender</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Chest pain type (cp)</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Resting blood pressure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trestbps</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Cholesterol level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chol</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Fasting blood sugar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fbs</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Resting ECG results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restecg</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Maximum heart rate achieved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thalach</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Exercise-induced angina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exang</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ST depression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oldpeak</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Slope, number of vessels (ca), and thalassemia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thal</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3"/>
              <a:stretch>
                <a:fillRect r="-1" b="-11"/>
              </a:stretch>
            </a:blipFill>
          </p:spPr>
          <p:txBody>
            <a:bodyPr/>
            <a:lstStyle/>
            <a:p>
              <a:endParaRPr lang="en-IN"/>
            </a:p>
          </p:txBody>
        </p:sp>
      </p:grpSp>
      <p:sp>
        <p:nvSpPr>
          <p:cNvPr id="8" name="TextBox 8"/>
          <p:cNvSpPr txBox="1"/>
          <p:nvPr/>
        </p:nvSpPr>
        <p:spPr>
          <a:xfrm>
            <a:off x="1028700" y="2350008"/>
            <a:ext cx="16230600" cy="4616648"/>
          </a:xfrm>
          <a:prstGeom prst="rect">
            <a:avLst/>
          </a:prstGeom>
        </p:spPr>
        <p:txBody>
          <a:bodyPr lIns="0" tIns="0" rIns="0" bIns="0" rtlCol="0" anchor="t">
            <a:spAutoFit/>
          </a:bodyPr>
          <a:lstStyle/>
          <a:p>
            <a:pPr algn="l">
              <a:lnSpc>
                <a:spcPts val="3564"/>
              </a:lnSpc>
            </a:pPr>
            <a:r>
              <a:rPr lang="en-US" sz="2000"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Training Process:</a:t>
            </a:r>
          </a:p>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dataset was divided into training and testing sets using the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train_test_split</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function with stratified sampling to maintain balanced class distribution. The Logistic Regression model was trained on historical patient data using the fit() method. During training, the algorithm learned relationships between medical attributes and heart disease outcomes, enabling it to classify new patient records effectively.</a:t>
            </a:r>
          </a:p>
          <a:p>
            <a:pPr algn="l">
              <a:lnSpc>
                <a:spcPts val="3564"/>
              </a:lnSpc>
            </a:pPr>
            <a:endParaRPr lang="en-US" dirty="0">
              <a:solidFill>
                <a:srgbClr val="000000"/>
              </a:solidFill>
              <a:latin typeface="Arial" panose="020B0604020202020204" pitchFamily="34" charset="0"/>
              <a:ea typeface="ITC Franklin Gothic LT"/>
              <a:cs typeface="Arial" panose="020B0604020202020204" pitchFamily="34" charset="0"/>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
        <p:nvSpPr>
          <p:cNvPr id="9" name="Freeform 9"/>
          <p:cNvSpPr/>
          <p:nvPr/>
        </p:nvSpPr>
        <p:spPr>
          <a:xfrm>
            <a:off x="1028700" y="4940264"/>
            <a:ext cx="14102250" cy="2996728"/>
          </a:xfrm>
          <a:custGeom>
            <a:avLst/>
            <a:gdLst/>
            <a:ahLst/>
            <a:cxnLst/>
            <a:rect l="l" t="t" r="r" b="b"/>
            <a:pathLst>
              <a:path w="14102250" h="2996728">
                <a:moveTo>
                  <a:pt x="0" y="0"/>
                </a:moveTo>
                <a:lnTo>
                  <a:pt x="14102250" y="0"/>
                </a:lnTo>
                <a:lnTo>
                  <a:pt x="14102250" y="2996729"/>
                </a:lnTo>
                <a:lnTo>
                  <a:pt x="0" y="2996729"/>
                </a:lnTo>
                <a:lnTo>
                  <a:pt x="0" y="0"/>
                </a:lnTo>
                <a:close/>
              </a:path>
            </a:pathLst>
          </a:custGeom>
          <a:blipFill>
            <a:blip r:embed="rId4"/>
            <a:stretch>
              <a:fillRect/>
            </a:stretch>
          </a:blipFill>
        </p:spPr>
        <p:txBody>
          <a:bodyPr/>
          <a:lstStyle/>
          <a:p>
            <a:endParaRPr lang="en-IN"/>
          </a:p>
        </p:txBody>
      </p:sp>
      <p:sp>
        <p:nvSpPr>
          <p:cNvPr id="10" name="TextBox 10"/>
          <p:cNvSpPr txBox="1"/>
          <p:nvPr/>
        </p:nvSpPr>
        <p:spPr>
          <a:xfrm>
            <a:off x="275394"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Algorithm: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1028700" y="2350008"/>
            <a:ext cx="16230600" cy="3693319"/>
          </a:xfrm>
          <a:prstGeom prst="rect">
            <a:avLst/>
          </a:prstGeom>
        </p:spPr>
        <p:txBody>
          <a:bodyPr lIns="0" tIns="0" rIns="0" bIns="0" rtlCol="0" anchor="t">
            <a:spAutoFit/>
          </a:bodyPr>
          <a:lstStyle/>
          <a:p>
            <a:pPr algn="l">
              <a:lnSpc>
                <a:spcPts val="3564"/>
              </a:lnSpc>
            </a:pPr>
            <a:r>
              <a:rPr lang="en-US" sz="2000"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Prediction Process:</a:t>
            </a:r>
          </a:p>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After training, the model generates predictions by analyzing new patient input data and calculating the probability of heart disease occurrence. The trained Logistic Regression model applies learned weights to the input features and outputs a binary prediction indicating risk level. This allows quick assessment of patient health status and supports early detection through data-driven insights.</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
        <p:nvSpPr>
          <p:cNvPr id="9" name="Freeform 9"/>
          <p:cNvSpPr/>
          <p:nvPr/>
        </p:nvSpPr>
        <p:spPr>
          <a:xfrm>
            <a:off x="1028700" y="4686300"/>
            <a:ext cx="8724900" cy="4826343"/>
          </a:xfrm>
          <a:custGeom>
            <a:avLst/>
            <a:gdLst/>
            <a:ahLst/>
            <a:cxnLst/>
            <a:rect l="l" t="t" r="r" b="b"/>
            <a:pathLst>
              <a:path w="6498838" h="4826343">
                <a:moveTo>
                  <a:pt x="0" y="0"/>
                </a:moveTo>
                <a:lnTo>
                  <a:pt x="6498838" y="0"/>
                </a:lnTo>
                <a:lnTo>
                  <a:pt x="6498838" y="4826343"/>
                </a:lnTo>
                <a:lnTo>
                  <a:pt x="0" y="4826343"/>
                </a:lnTo>
                <a:lnTo>
                  <a:pt x="0" y="0"/>
                </a:lnTo>
                <a:close/>
              </a:path>
            </a:pathLst>
          </a:custGeom>
          <a:blipFill>
            <a:blip r:embed="rId3"/>
            <a:stretch>
              <a:fillRect/>
            </a:stretch>
          </a:blipFill>
        </p:spPr>
        <p:txBody>
          <a:bodyPr/>
          <a:lstStyle/>
          <a:p>
            <a:endParaRPr lang="en-IN" dirty="0"/>
          </a:p>
        </p:txBody>
      </p:sp>
      <p:sp>
        <p:nvSpPr>
          <p:cNvPr id="10" name="TextBox 10"/>
          <p:cNvSpPr txBox="1"/>
          <p:nvPr/>
        </p:nvSpPr>
        <p:spPr>
          <a:xfrm>
            <a:off x="275394" y="1076325"/>
            <a:ext cx="15590520" cy="862965"/>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Algorithm: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408069" y="10382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Result:</a:t>
            </a:r>
          </a:p>
        </p:txBody>
      </p:sp>
      <p:sp>
        <p:nvSpPr>
          <p:cNvPr id="9" name="TextBox 9"/>
          <p:cNvSpPr txBox="1"/>
          <p:nvPr/>
        </p:nvSpPr>
        <p:spPr>
          <a:xfrm>
            <a:off x="1028700" y="2327529"/>
            <a:ext cx="16230600" cy="6001643"/>
          </a:xfrm>
          <a:prstGeom prst="rect">
            <a:avLst/>
          </a:prstGeom>
        </p:spPr>
        <p:txBody>
          <a:bodyPr lIns="0" tIns="0" rIns="0" bIns="0" rtlCol="0" anchor="t">
            <a:spAutoFit/>
          </a:bodyPr>
          <a:lstStyle/>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performance of the proposed Heart Disease Prediction model was evaluated based on its accuracy and effectiveness in classifying patients into risk and non-risk categories. After training the Logistic Regression algorithm using historical patient health data, the model generated predictions for both training and testing datasets. The accuracy score was calculated to measure how correctly the model identified heart disease cases.</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
        <p:nvSpPr>
          <p:cNvPr id="10" name="Freeform 10"/>
          <p:cNvSpPr/>
          <p:nvPr/>
        </p:nvSpPr>
        <p:spPr>
          <a:xfrm>
            <a:off x="1028700" y="4150287"/>
            <a:ext cx="10182374" cy="4178885"/>
          </a:xfrm>
          <a:custGeom>
            <a:avLst/>
            <a:gdLst/>
            <a:ahLst/>
            <a:cxnLst/>
            <a:rect l="l" t="t" r="r" b="b"/>
            <a:pathLst>
              <a:path w="10182374" h="4178885">
                <a:moveTo>
                  <a:pt x="0" y="0"/>
                </a:moveTo>
                <a:lnTo>
                  <a:pt x="10182374" y="0"/>
                </a:lnTo>
                <a:lnTo>
                  <a:pt x="10182374" y="4178885"/>
                </a:lnTo>
                <a:lnTo>
                  <a:pt x="0" y="4178885"/>
                </a:lnTo>
                <a:lnTo>
                  <a:pt x="0" y="0"/>
                </a:lnTo>
                <a:close/>
              </a:path>
            </a:pathLst>
          </a:custGeom>
          <a:blipFill>
            <a:blip r:embed="rId3"/>
            <a:stretch>
              <a:fillRect b="-51728"/>
            </a:stretch>
          </a:blipFill>
        </p:spPr>
        <p:txBody>
          <a:bodyPr/>
          <a:lstStyle/>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408069" y="10382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Result:</a:t>
            </a:r>
          </a:p>
        </p:txBody>
      </p:sp>
      <p:sp>
        <p:nvSpPr>
          <p:cNvPr id="9" name="TextBox 9"/>
          <p:cNvSpPr txBox="1"/>
          <p:nvPr/>
        </p:nvSpPr>
        <p:spPr>
          <a:xfrm>
            <a:off x="1028700" y="2327529"/>
            <a:ext cx="16230600" cy="2769989"/>
          </a:xfrm>
          <a:prstGeom prst="rect">
            <a:avLst/>
          </a:prstGeom>
        </p:spPr>
        <p:txBody>
          <a:bodyPr lIns="0" tIns="0" rIns="0" bIns="0" rtlCol="0" anchor="t">
            <a:spAutoFit/>
          </a:bodyPr>
          <a:lstStyle/>
          <a:p>
            <a:pPr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results show that the model achieved strong performance, demonstrating its capability to analyze medical attributes such as age, chest pain type, cholesterol level, and maximum heart rate to predict heart disease risk. The comparison between training accuracy and testing accuracy indicates that the model generalizes well and does not suffer from significant overfitting.</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
        <p:nvSpPr>
          <p:cNvPr id="10" name="Freeform 10"/>
          <p:cNvSpPr/>
          <p:nvPr/>
        </p:nvSpPr>
        <p:spPr>
          <a:xfrm>
            <a:off x="1028700" y="4301537"/>
            <a:ext cx="12945927" cy="3097960"/>
          </a:xfrm>
          <a:custGeom>
            <a:avLst/>
            <a:gdLst/>
            <a:ahLst/>
            <a:cxnLst/>
            <a:rect l="l" t="t" r="r" b="b"/>
            <a:pathLst>
              <a:path w="12945927" h="3097960">
                <a:moveTo>
                  <a:pt x="0" y="0"/>
                </a:moveTo>
                <a:lnTo>
                  <a:pt x="12945927" y="0"/>
                </a:lnTo>
                <a:lnTo>
                  <a:pt x="12945927" y="3097960"/>
                </a:lnTo>
                <a:lnTo>
                  <a:pt x="0" y="3097960"/>
                </a:lnTo>
                <a:lnTo>
                  <a:pt x="0" y="0"/>
                </a:lnTo>
                <a:close/>
              </a:path>
            </a:pathLst>
          </a:custGeom>
          <a:blipFill>
            <a:blip r:embed="rId3"/>
            <a:stretch>
              <a:fillRect t="-160217"/>
            </a:stretch>
          </a:blipFill>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Freeform 8"/>
          <p:cNvSpPr/>
          <p:nvPr/>
        </p:nvSpPr>
        <p:spPr>
          <a:xfrm>
            <a:off x="1055736" y="3646950"/>
            <a:ext cx="7147593" cy="5632954"/>
          </a:xfrm>
          <a:custGeom>
            <a:avLst/>
            <a:gdLst/>
            <a:ahLst/>
            <a:cxnLst/>
            <a:rect l="l" t="t" r="r" b="b"/>
            <a:pathLst>
              <a:path w="7147593" h="5632954">
                <a:moveTo>
                  <a:pt x="0" y="0"/>
                </a:moveTo>
                <a:lnTo>
                  <a:pt x="7147593" y="0"/>
                </a:lnTo>
                <a:lnTo>
                  <a:pt x="7147593" y="5632954"/>
                </a:lnTo>
                <a:lnTo>
                  <a:pt x="0" y="5632954"/>
                </a:lnTo>
                <a:lnTo>
                  <a:pt x="0" y="0"/>
                </a:lnTo>
                <a:close/>
              </a:path>
            </a:pathLst>
          </a:custGeom>
          <a:blipFill>
            <a:blip r:embed="rId3"/>
            <a:stretch>
              <a:fillRect/>
            </a:stretch>
          </a:blipFill>
        </p:spPr>
        <p:txBody>
          <a:bodyPr/>
          <a:lstStyle/>
          <a:p>
            <a:endParaRPr lang="en-IN"/>
          </a:p>
        </p:txBody>
      </p:sp>
      <p:sp>
        <p:nvSpPr>
          <p:cNvPr id="9" name="Freeform 9"/>
          <p:cNvSpPr/>
          <p:nvPr/>
        </p:nvSpPr>
        <p:spPr>
          <a:xfrm>
            <a:off x="9714749" y="3646950"/>
            <a:ext cx="7084117" cy="5644962"/>
          </a:xfrm>
          <a:custGeom>
            <a:avLst/>
            <a:gdLst/>
            <a:ahLst/>
            <a:cxnLst/>
            <a:rect l="l" t="t" r="r" b="b"/>
            <a:pathLst>
              <a:path w="7084117" h="5644962">
                <a:moveTo>
                  <a:pt x="0" y="0"/>
                </a:moveTo>
                <a:lnTo>
                  <a:pt x="7084117" y="0"/>
                </a:lnTo>
                <a:lnTo>
                  <a:pt x="7084117" y="5644962"/>
                </a:lnTo>
                <a:lnTo>
                  <a:pt x="0" y="5644962"/>
                </a:lnTo>
                <a:lnTo>
                  <a:pt x="0" y="0"/>
                </a:lnTo>
                <a:close/>
              </a:path>
            </a:pathLst>
          </a:custGeom>
          <a:blipFill>
            <a:blip r:embed="rId4"/>
            <a:stretch>
              <a:fillRect/>
            </a:stretch>
          </a:blipFill>
        </p:spPr>
        <p:txBody>
          <a:bodyPr/>
          <a:lstStyle/>
          <a:p>
            <a:endParaRPr lang="en-IN"/>
          </a:p>
        </p:txBody>
      </p:sp>
      <p:sp>
        <p:nvSpPr>
          <p:cNvPr id="10" name="TextBox 10"/>
          <p:cNvSpPr txBox="1"/>
          <p:nvPr/>
        </p:nvSpPr>
        <p:spPr>
          <a:xfrm>
            <a:off x="408069" y="10382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Result:</a:t>
            </a:r>
          </a:p>
        </p:txBody>
      </p:sp>
      <p:sp>
        <p:nvSpPr>
          <p:cNvPr id="11" name="TextBox 11"/>
          <p:cNvSpPr txBox="1"/>
          <p:nvPr/>
        </p:nvSpPr>
        <p:spPr>
          <a:xfrm>
            <a:off x="1055736" y="1910477"/>
            <a:ext cx="7951682" cy="1322157"/>
          </a:xfrm>
          <a:prstGeom prst="rect">
            <a:avLst/>
          </a:prstGeom>
        </p:spPr>
        <p:txBody>
          <a:bodyPr lIns="0" tIns="0" rIns="0" bIns="0" rtlCol="0" anchor="t">
            <a:spAutoFit/>
          </a:bodyPr>
          <a:lstStyle/>
          <a:p>
            <a:pPr>
              <a:lnSpc>
                <a:spcPts val="3564"/>
              </a:lnSpc>
            </a:pPr>
            <a:r>
              <a:rPr lang="en-IN" sz="2000" b="1" dirty="0">
                <a:latin typeface="Arial" panose="020B0604020202020204" pitchFamily="34" charset="0"/>
                <a:cs typeface="Arial" panose="020B0604020202020204" pitchFamily="34" charset="0"/>
              </a:rPr>
              <a:t>Visualizations</a:t>
            </a:r>
            <a:r>
              <a:rPr lang="en-US" sz="2000"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a:t>
            </a:r>
          </a:p>
          <a:p>
            <a:pPr algn="l">
              <a:lnSpc>
                <a:spcPts val="3564"/>
              </a:lnSpc>
            </a:pPr>
            <a:endParaRPr lang="en-US" sz="2000" b="1" dirty="0">
              <a:solidFill>
                <a:srgbClr val="000000"/>
              </a:solidFill>
              <a:latin typeface="ITC Franklin Gothic LT Semi-Bold"/>
              <a:ea typeface="ITC Franklin Gothic LT Semi-Bold"/>
              <a:cs typeface="ITC Franklin Gothic LT Semi-Bold"/>
              <a:sym typeface="ITC Franklin Gothic LT Semi-Bold"/>
            </a:endParaRPr>
          </a:p>
          <a:p>
            <a:pPr marL="712470" lvl="1" indent="-356235" algn="l">
              <a:lnSpc>
                <a:spcPts val="3564"/>
              </a:lnSpc>
              <a:buAutoNum type="arabicPeriod"/>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Number of patients with and without heart disease.</a:t>
            </a:r>
          </a:p>
        </p:txBody>
      </p:sp>
      <p:sp>
        <p:nvSpPr>
          <p:cNvPr id="12" name="TextBox 12"/>
          <p:cNvSpPr txBox="1"/>
          <p:nvPr/>
        </p:nvSpPr>
        <p:spPr>
          <a:xfrm>
            <a:off x="9714749" y="2752697"/>
            <a:ext cx="7951682" cy="923330"/>
          </a:xfrm>
          <a:prstGeom prst="rect">
            <a:avLst/>
          </a:prstGeom>
        </p:spPr>
        <p:txBody>
          <a:bodyPr lIns="0" tIns="0" rIns="0" bIns="0" rtlCol="0" anchor="t">
            <a:spAutoFit/>
          </a:bodyPr>
          <a:lstStyle/>
          <a:p>
            <a:pPr marL="356235" lvl="1"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2. Societal impact — how risk increases with age.</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Freeform 8"/>
          <p:cNvSpPr/>
          <p:nvPr/>
        </p:nvSpPr>
        <p:spPr>
          <a:xfrm>
            <a:off x="1055736" y="3646950"/>
            <a:ext cx="7147593" cy="5632954"/>
          </a:xfrm>
          <a:custGeom>
            <a:avLst/>
            <a:gdLst/>
            <a:ahLst/>
            <a:cxnLst/>
            <a:rect l="l" t="t" r="r" b="b"/>
            <a:pathLst>
              <a:path w="7147593" h="5632954">
                <a:moveTo>
                  <a:pt x="0" y="0"/>
                </a:moveTo>
                <a:lnTo>
                  <a:pt x="7147593" y="0"/>
                </a:lnTo>
                <a:lnTo>
                  <a:pt x="7147593" y="5632954"/>
                </a:lnTo>
                <a:lnTo>
                  <a:pt x="0" y="5632954"/>
                </a:lnTo>
                <a:lnTo>
                  <a:pt x="0" y="0"/>
                </a:lnTo>
                <a:close/>
              </a:path>
            </a:pathLst>
          </a:custGeom>
          <a:blipFill>
            <a:blip r:embed="rId3"/>
            <a:stretch>
              <a:fillRect/>
            </a:stretch>
          </a:blipFill>
        </p:spPr>
        <p:txBody>
          <a:bodyPr/>
          <a:lstStyle/>
          <a:p>
            <a:endParaRPr lang="en-IN"/>
          </a:p>
        </p:txBody>
      </p:sp>
      <p:sp>
        <p:nvSpPr>
          <p:cNvPr id="9" name="Freeform 9"/>
          <p:cNvSpPr/>
          <p:nvPr/>
        </p:nvSpPr>
        <p:spPr>
          <a:xfrm>
            <a:off x="9714749" y="3646950"/>
            <a:ext cx="7084117" cy="5644962"/>
          </a:xfrm>
          <a:custGeom>
            <a:avLst/>
            <a:gdLst/>
            <a:ahLst/>
            <a:cxnLst/>
            <a:rect l="l" t="t" r="r" b="b"/>
            <a:pathLst>
              <a:path w="7084117" h="5644962">
                <a:moveTo>
                  <a:pt x="0" y="0"/>
                </a:moveTo>
                <a:lnTo>
                  <a:pt x="7084117" y="0"/>
                </a:lnTo>
                <a:lnTo>
                  <a:pt x="7084117" y="5644962"/>
                </a:lnTo>
                <a:lnTo>
                  <a:pt x="0" y="5644962"/>
                </a:lnTo>
                <a:lnTo>
                  <a:pt x="0" y="0"/>
                </a:lnTo>
                <a:close/>
              </a:path>
            </a:pathLst>
          </a:custGeom>
          <a:blipFill>
            <a:blip r:embed="rId4"/>
            <a:stretch>
              <a:fillRect/>
            </a:stretch>
          </a:blipFill>
        </p:spPr>
        <p:txBody>
          <a:bodyPr/>
          <a:lstStyle/>
          <a:p>
            <a:endParaRPr lang="en-IN"/>
          </a:p>
        </p:txBody>
      </p:sp>
      <p:sp>
        <p:nvSpPr>
          <p:cNvPr id="10" name="Freeform 10"/>
          <p:cNvSpPr/>
          <p:nvPr/>
        </p:nvSpPr>
        <p:spPr>
          <a:xfrm>
            <a:off x="1242402" y="3332369"/>
            <a:ext cx="6960928" cy="6195226"/>
          </a:xfrm>
          <a:custGeom>
            <a:avLst/>
            <a:gdLst/>
            <a:ahLst/>
            <a:cxnLst/>
            <a:rect l="l" t="t" r="r" b="b"/>
            <a:pathLst>
              <a:path w="6960928" h="6195226">
                <a:moveTo>
                  <a:pt x="0" y="0"/>
                </a:moveTo>
                <a:lnTo>
                  <a:pt x="6960927" y="0"/>
                </a:lnTo>
                <a:lnTo>
                  <a:pt x="6960927" y="6195226"/>
                </a:lnTo>
                <a:lnTo>
                  <a:pt x="0" y="6195226"/>
                </a:lnTo>
                <a:lnTo>
                  <a:pt x="0" y="0"/>
                </a:lnTo>
                <a:close/>
              </a:path>
            </a:pathLst>
          </a:custGeom>
          <a:blipFill>
            <a:blip r:embed="rId5"/>
            <a:stretch>
              <a:fillRect/>
            </a:stretch>
          </a:blipFill>
        </p:spPr>
        <p:txBody>
          <a:bodyPr/>
          <a:lstStyle/>
          <a:p>
            <a:endParaRPr lang="en-IN"/>
          </a:p>
        </p:txBody>
      </p:sp>
      <p:sp>
        <p:nvSpPr>
          <p:cNvPr id="11" name="Freeform 11"/>
          <p:cNvSpPr/>
          <p:nvPr/>
        </p:nvSpPr>
        <p:spPr>
          <a:xfrm>
            <a:off x="10160738" y="3332369"/>
            <a:ext cx="6831312" cy="5660230"/>
          </a:xfrm>
          <a:custGeom>
            <a:avLst/>
            <a:gdLst/>
            <a:ahLst/>
            <a:cxnLst/>
            <a:rect l="l" t="t" r="r" b="b"/>
            <a:pathLst>
              <a:path w="6831312" h="5660230">
                <a:moveTo>
                  <a:pt x="0" y="0"/>
                </a:moveTo>
                <a:lnTo>
                  <a:pt x="6831312" y="0"/>
                </a:lnTo>
                <a:lnTo>
                  <a:pt x="6831312" y="5660230"/>
                </a:lnTo>
                <a:lnTo>
                  <a:pt x="0" y="5660230"/>
                </a:lnTo>
                <a:lnTo>
                  <a:pt x="0" y="0"/>
                </a:lnTo>
                <a:close/>
              </a:path>
            </a:pathLst>
          </a:custGeom>
          <a:blipFill>
            <a:blip r:embed="rId6"/>
            <a:stretch>
              <a:fillRect/>
            </a:stretch>
          </a:blipFill>
        </p:spPr>
        <p:txBody>
          <a:bodyPr/>
          <a:lstStyle/>
          <a:p>
            <a:endParaRPr lang="en-IN"/>
          </a:p>
        </p:txBody>
      </p:sp>
      <p:sp>
        <p:nvSpPr>
          <p:cNvPr id="12" name="TextBox 12"/>
          <p:cNvSpPr txBox="1"/>
          <p:nvPr/>
        </p:nvSpPr>
        <p:spPr>
          <a:xfrm>
            <a:off x="408069" y="10382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Result:</a:t>
            </a:r>
          </a:p>
        </p:txBody>
      </p:sp>
      <p:sp>
        <p:nvSpPr>
          <p:cNvPr id="13" name="TextBox 13"/>
          <p:cNvSpPr txBox="1"/>
          <p:nvPr/>
        </p:nvSpPr>
        <p:spPr>
          <a:xfrm>
            <a:off x="747024" y="1661493"/>
            <a:ext cx="7951682" cy="1384995"/>
          </a:xfrm>
          <a:prstGeom prst="rect">
            <a:avLst/>
          </a:prstGeom>
        </p:spPr>
        <p:txBody>
          <a:bodyPr lIns="0" tIns="0" rIns="0" bIns="0" rtlCol="0" anchor="t">
            <a:spAutoFit/>
          </a:bodyPr>
          <a:lstStyle/>
          <a:p>
            <a:pPr algn="l">
              <a:lnSpc>
                <a:spcPts val="3564"/>
              </a:lnSpc>
            </a:pPr>
            <a:endParaRPr dirty="0">
              <a:latin typeface="Arial" panose="020B0604020202020204" pitchFamily="34" charset="0"/>
              <a:cs typeface="Arial" panose="020B0604020202020204" pitchFamily="34" charset="0"/>
            </a:endParaRPr>
          </a:p>
          <a:p>
            <a:pPr marL="356235" lvl="1"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3. Highlights relationships between medical features influencing prediction</a:t>
            </a:r>
            <a:r>
              <a:rPr lang="en-US" sz="3300" dirty="0">
                <a:solidFill>
                  <a:srgbClr val="000000"/>
                </a:solidFill>
                <a:latin typeface="ITC Franklin Gothic LT"/>
                <a:ea typeface="ITC Franklin Gothic LT"/>
                <a:cs typeface="Arial" panose="020B0604020202020204" pitchFamily="34" charset="0"/>
                <a:sym typeface="ITC Franklin Gothic LT"/>
              </a:rPr>
              <a:t>.</a:t>
            </a:r>
            <a:endParaRPr lang="en-US" sz="3300" dirty="0">
              <a:solidFill>
                <a:srgbClr val="000000"/>
              </a:solidFill>
              <a:latin typeface="ITC Franklin Gothic LT"/>
              <a:ea typeface="ITC Franklin Gothic LT"/>
              <a:cs typeface="ITC Franklin Gothic LT"/>
              <a:sym typeface="ITC Franklin Gothic LT"/>
            </a:endParaRPr>
          </a:p>
        </p:txBody>
      </p:sp>
      <p:sp>
        <p:nvSpPr>
          <p:cNvPr id="14" name="TextBox 14"/>
          <p:cNvSpPr txBox="1"/>
          <p:nvPr/>
        </p:nvSpPr>
        <p:spPr>
          <a:xfrm>
            <a:off x="9319364" y="2074679"/>
            <a:ext cx="7951682" cy="867417"/>
          </a:xfrm>
          <a:prstGeom prst="rect">
            <a:avLst/>
          </a:prstGeom>
        </p:spPr>
        <p:txBody>
          <a:bodyPr lIns="0" tIns="0" rIns="0" bIns="0" rtlCol="0" anchor="t">
            <a:spAutoFit/>
          </a:bodyPr>
          <a:lstStyle/>
          <a:p>
            <a:pPr marL="356235" lvl="1" algn="l">
              <a:lnSpc>
                <a:spcPts val="3564"/>
              </a:lnSpc>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4. Shows comparison between actual and predicted classifications, indicating true positives, true negatives, and misclassifications.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408069" y="10382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Result:</a:t>
            </a:r>
          </a:p>
        </p:txBody>
      </p:sp>
      <p:sp>
        <p:nvSpPr>
          <p:cNvPr id="9" name="TextBox 9"/>
          <p:cNvSpPr txBox="1"/>
          <p:nvPr/>
        </p:nvSpPr>
        <p:spPr>
          <a:xfrm>
            <a:off x="1028700" y="2327529"/>
            <a:ext cx="16230600" cy="4616648"/>
          </a:xfrm>
          <a:prstGeom prst="rect">
            <a:avLst/>
          </a:prstGeom>
        </p:spPr>
        <p:txBody>
          <a:bodyPr lIns="0" tIns="0" rIns="0" bIns="0" rtlCol="0" anchor="t">
            <a:spAutoFit/>
          </a:bodyPr>
          <a:lstStyle/>
          <a:p>
            <a:pPr algn="l">
              <a:lnSpc>
                <a:spcPts val="3564"/>
              </a:lnSpc>
            </a:pPr>
            <a:r>
              <a:rPr lang="en-US"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Predicted vs Actual Comparison:</a:t>
            </a:r>
          </a:p>
          <a:p>
            <a:pPr algn="l">
              <a:lnSpc>
                <a:spcPts val="3564"/>
              </a:lnSpc>
            </a:pPr>
            <a:r>
              <a:rPr lang="en-US" dirty="0">
                <a:solidFill>
                  <a:srgbClr val="000000"/>
                </a:solidFill>
                <a:latin typeface="ITC Franklin Gothic LT"/>
                <a:ea typeface="ITC Franklin Gothic LT"/>
                <a:cs typeface="ITC Franklin Gothic LT"/>
                <a:sym typeface="ITC Franklin Gothic LT"/>
              </a:rPr>
              <a:t>The trained model’s predictions were compared with actual labels from the testing dataset. The comparison demonstrates that the algorithm correctly classified most cases, confirming its reliability for preliminary heart disease screening. Example predictions using sample patient input data further validated the effectiveness of the trained model.</a:t>
            </a:r>
          </a:p>
          <a:p>
            <a:pPr algn="l">
              <a:lnSpc>
                <a:spcPts val="3564"/>
              </a:lnSpc>
            </a:pPr>
            <a:endParaRPr lang="en-US" dirty="0">
              <a:solidFill>
                <a:srgbClr val="000000"/>
              </a:solidFill>
              <a:latin typeface="ITC Franklin Gothic LT"/>
              <a:ea typeface="ITC Franklin Gothic LT"/>
              <a:cs typeface="ITC Franklin Gothic LT"/>
              <a:sym typeface="ITC Franklin Gothic LT"/>
            </a:endParaRPr>
          </a:p>
          <a:p>
            <a:pPr algn="l">
              <a:lnSpc>
                <a:spcPts val="3564"/>
              </a:lnSpc>
            </a:pPr>
            <a:r>
              <a:rPr lang="en-US" sz="2000" b="1" dirty="0">
                <a:solidFill>
                  <a:srgbClr val="000000"/>
                </a:solidFill>
                <a:latin typeface="Arial" panose="020B0604020202020204" pitchFamily="34" charset="0"/>
                <a:ea typeface="ITC Franklin Gothic LT Semi-Bold"/>
                <a:cs typeface="Arial" panose="020B0604020202020204" pitchFamily="34" charset="0"/>
                <a:sym typeface="ITC Franklin Gothic LT Semi-Bold"/>
              </a:rPr>
              <a:t>Model Effectiveness:</a:t>
            </a:r>
          </a:p>
          <a:p>
            <a:pPr marL="712470" lvl="1" indent="-356235" algn="l">
              <a:lnSpc>
                <a:spcPts val="3564"/>
              </a:lnSpc>
              <a:buFont typeface="Arial"/>
              <a:buChar char="•"/>
            </a:pPr>
            <a:r>
              <a:rPr lang="en-US" dirty="0">
                <a:solidFill>
                  <a:srgbClr val="000000"/>
                </a:solidFill>
                <a:latin typeface="ITC Franklin Gothic LT"/>
                <a:ea typeface="ITC Franklin Gothic LT"/>
                <a:cs typeface="ITC Franklin Gothic LT"/>
                <a:sym typeface="ITC Franklin Gothic LT"/>
              </a:rPr>
              <a:t>High prediction accuracy on test data indicates reliable performance.</a:t>
            </a:r>
          </a:p>
          <a:p>
            <a:pPr marL="712470" lvl="1" indent="-356235" algn="l">
              <a:lnSpc>
                <a:spcPts val="3564"/>
              </a:lnSpc>
              <a:buFont typeface="Arial"/>
              <a:buChar char="•"/>
            </a:pPr>
            <a:r>
              <a:rPr lang="en-US" dirty="0">
                <a:solidFill>
                  <a:srgbClr val="000000"/>
                </a:solidFill>
                <a:latin typeface="ITC Franklin Gothic LT"/>
                <a:ea typeface="ITC Franklin Gothic LT"/>
                <a:cs typeface="ITC Franklin Gothic LT"/>
                <a:sym typeface="ITC Franklin Gothic LT"/>
              </a:rPr>
              <a:t>Logistic Regression successfully identified important medical risk factors.</a:t>
            </a:r>
          </a:p>
          <a:p>
            <a:pPr marL="712470" lvl="1" indent="-356235" algn="l">
              <a:lnSpc>
                <a:spcPts val="3564"/>
              </a:lnSpc>
              <a:buFont typeface="Arial"/>
              <a:buChar char="•"/>
            </a:pPr>
            <a:r>
              <a:rPr lang="en-US" dirty="0">
                <a:solidFill>
                  <a:srgbClr val="000000"/>
                </a:solidFill>
                <a:latin typeface="ITC Franklin Gothic LT"/>
                <a:ea typeface="ITC Franklin Gothic LT"/>
                <a:cs typeface="ITC Franklin Gothic LT"/>
                <a:sym typeface="ITC Franklin Gothic LT"/>
              </a:rPr>
              <a:t>The model can assist as a decision-support tool for early detection and preventive healthcare.</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485327" y="10763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Conclusion:</a:t>
            </a:r>
          </a:p>
        </p:txBody>
      </p:sp>
      <p:sp>
        <p:nvSpPr>
          <p:cNvPr id="9" name="TextBox 9"/>
          <p:cNvSpPr txBox="1"/>
          <p:nvPr/>
        </p:nvSpPr>
        <p:spPr>
          <a:xfrm>
            <a:off x="1028700" y="2274894"/>
            <a:ext cx="16015080" cy="4154984"/>
          </a:xfrm>
          <a:prstGeom prst="rect">
            <a:avLst/>
          </a:prstGeom>
        </p:spPr>
        <p:txBody>
          <a:bodyPr lIns="0" tIns="0" rIns="0" bIns="0" rtlCol="0" anchor="t">
            <a:spAutoFit/>
          </a:bodyPr>
          <a:lstStyle/>
          <a:p>
            <a:pPr marL="285750" indent="-285750" algn="l">
              <a:lnSpc>
                <a:spcPts val="3564"/>
              </a:lnSpc>
              <a:buFont typeface="Arial" panose="020B0604020202020204" pitchFamily="34" charset="0"/>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Heart Disease Prediction System demonstrates how machine learning can be effectively applied to analyze medical data and support early detection of cardiovascular risk.</a:t>
            </a:r>
          </a:p>
          <a:p>
            <a:pPr marL="285750" indent="-285750" algn="l">
              <a:lnSpc>
                <a:spcPts val="3564"/>
              </a:lnSpc>
              <a:buFont typeface="Arial" panose="020B0604020202020204" pitchFamily="34" charset="0"/>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By using Logistic Regression, the model successfully learned patterns from patient health parameters such as age, chest pain type, cholesterol level, and heart rate to classify individuals into risk and non-risk categories. </a:t>
            </a:r>
          </a:p>
          <a:p>
            <a:pPr marL="285750" indent="-285750" algn="l">
              <a:lnSpc>
                <a:spcPts val="3564"/>
              </a:lnSpc>
              <a:buFont typeface="Arial" panose="020B0604020202020204" pitchFamily="34" charset="0"/>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The results indicate that data-driven healthcare solutions can assist medical professionals by providing quick preliminary assessments and encouraging preventive healthcare practices.</a:t>
            </a:r>
          </a:p>
          <a:p>
            <a:pPr marL="285750" indent="-285750" algn="l">
              <a:lnSpc>
                <a:spcPts val="3564"/>
              </a:lnSpc>
              <a:buFont typeface="Arial" panose="020B0604020202020204" pitchFamily="34" charset="0"/>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Although the system achieved reliable accuracy, future improvements such as integrating larger datasets, experimenting with advanced algorithms, and developing user-friendly interfaces can further enhance its real-world impact and scalability.</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355971" y="1338238"/>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Future scope:</a:t>
            </a:r>
          </a:p>
        </p:txBody>
      </p:sp>
      <p:sp>
        <p:nvSpPr>
          <p:cNvPr id="9" name="TextBox 9"/>
          <p:cNvSpPr txBox="1"/>
          <p:nvPr/>
        </p:nvSpPr>
        <p:spPr>
          <a:xfrm>
            <a:off x="842955" y="2396235"/>
            <a:ext cx="16230600" cy="2308324"/>
          </a:xfrm>
          <a:prstGeom prst="rect">
            <a:avLst/>
          </a:prstGeom>
        </p:spPr>
        <p:txBody>
          <a:bodyPr lIns="0" tIns="0" rIns="0" bIns="0" rtlCol="0" anchor="t">
            <a:spAutoFit/>
          </a:bodyPr>
          <a:lstStyle/>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Integrate larger and more diverse healthcare datasets to improve model accuracy and generalization.</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Experiment with advanced algorithms such as Random Forest, </a:t>
            </a:r>
            <a:r>
              <a:rPr lang="en-US" dirty="0" err="1">
                <a:solidFill>
                  <a:srgbClr val="000000"/>
                </a:solidFill>
                <a:latin typeface="Arial" panose="020B0604020202020204" pitchFamily="34" charset="0"/>
                <a:ea typeface="ITC Franklin Gothic LT"/>
                <a:cs typeface="Arial" panose="020B0604020202020204" pitchFamily="34" charset="0"/>
                <a:sym typeface="ITC Franklin Gothic LT"/>
              </a:rPr>
              <a:t>XGBoost</a:t>
            </a: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 or Neural Networks for better prediction performance.</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Develop a web or mobile interface to make the system accessible for real-time patient risk assessment.</a:t>
            </a:r>
          </a:p>
          <a:p>
            <a:pPr marL="712470" lvl="1" indent="-356235" algn="l">
              <a:lnSpc>
                <a:spcPts val="3564"/>
              </a:lnSpc>
              <a:buFont typeface="Arial"/>
              <a:buChar char="•"/>
            </a:pPr>
            <a:r>
              <a:rPr lang="en-US" dirty="0">
                <a:solidFill>
                  <a:srgbClr val="000000"/>
                </a:solidFill>
                <a:latin typeface="Arial" panose="020B0604020202020204" pitchFamily="34" charset="0"/>
                <a:ea typeface="ITC Franklin Gothic LT"/>
                <a:cs typeface="Arial" panose="020B0604020202020204" pitchFamily="34" charset="0"/>
                <a:sym typeface="ITC Franklin Gothic LT"/>
              </a:rPr>
              <a:t>Incorporate wearable device data and real-time health monitoring for continuous heart disease prediction.</a:t>
            </a:r>
          </a:p>
          <a:p>
            <a:pPr algn="l">
              <a:lnSpc>
                <a:spcPts val="3564"/>
              </a:lnSpc>
            </a:pPr>
            <a:endParaRPr lang="en-US" sz="3300" dirty="0">
              <a:solidFill>
                <a:srgbClr val="000000"/>
              </a:solidFill>
              <a:latin typeface="ITC Franklin Gothic LT"/>
              <a:ea typeface="ITC Franklin Gothic LT"/>
              <a:cs typeface="ITC Franklin Gothic LT"/>
              <a:sym typeface="ITC Franklin Gothic 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2"/>
              <a:stretch>
                <a:fillRect r="-1" b="-11"/>
              </a:stretch>
            </a:blipFill>
          </p:spPr>
          <p:txBody>
            <a:bodyPr/>
            <a:lstStyle/>
            <a:p>
              <a:endParaRPr lang="en-IN"/>
            </a:p>
          </p:txBody>
        </p:sp>
      </p:grpSp>
      <p:sp>
        <p:nvSpPr>
          <p:cNvPr id="8" name="TextBox 8"/>
          <p:cNvSpPr txBox="1"/>
          <p:nvPr/>
        </p:nvSpPr>
        <p:spPr>
          <a:xfrm>
            <a:off x="386648" y="1076325"/>
            <a:ext cx="15590520" cy="1849279"/>
          </a:xfrm>
          <a:prstGeom prst="rect">
            <a:avLst/>
          </a:prstGeom>
        </p:spPr>
        <p:txBody>
          <a:bodyPr lIns="0" tIns="0" rIns="0" bIns="0" rtlCol="0" anchor="t">
            <a:spAutoFit/>
          </a:bodyPr>
          <a:lstStyle/>
          <a:p>
            <a:pPr algn="l">
              <a:lnSpc>
                <a:spcPts val="6480"/>
              </a:lnSpc>
            </a:pPr>
            <a:r>
              <a:rPr lang="en-US" sz="6000" b="1">
                <a:solidFill>
                  <a:srgbClr val="000000"/>
                </a:solidFill>
                <a:latin typeface="Arial Bold"/>
                <a:ea typeface="Arial Bold"/>
                <a:cs typeface="Arial Bold"/>
                <a:sym typeface="Arial Bold"/>
              </a:rPr>
              <a:t>References:</a:t>
            </a:r>
          </a:p>
        </p:txBody>
      </p:sp>
      <p:sp>
        <p:nvSpPr>
          <p:cNvPr id="9" name="TextBox 9"/>
          <p:cNvSpPr txBox="1"/>
          <p:nvPr/>
        </p:nvSpPr>
        <p:spPr>
          <a:xfrm>
            <a:off x="1187910" y="2312994"/>
            <a:ext cx="16071390" cy="5078313"/>
          </a:xfrm>
          <a:prstGeom prst="rect">
            <a:avLst/>
          </a:prstGeom>
        </p:spPr>
        <p:txBody>
          <a:bodyPr lIns="0" tIns="0" rIns="0" bIns="0" rtlCol="0" anchor="t">
            <a:spAutoFit/>
          </a:bodyPr>
          <a:lstStyle/>
          <a:p>
            <a:pPr marL="712470" lvl="1" indent="-356235" algn="l">
              <a:lnSpc>
                <a:spcPts val="3564"/>
              </a:lnSpc>
              <a:buFont typeface="Arial"/>
              <a:buChar char="•"/>
            </a:pPr>
            <a:r>
              <a:rPr lang="en-US" dirty="0">
                <a:solidFill>
                  <a:srgbClr val="000000"/>
                </a:solidFill>
                <a:latin typeface="Arial"/>
                <a:ea typeface="Arial"/>
                <a:cs typeface="Arial"/>
                <a:sym typeface="Arial"/>
              </a:rPr>
              <a:t>Ahmad, A. A. et al., Prediction of Heart Disease Based on Machine Learning, which highlights the importance of early disease detection using the Cleveland heart disease dataset. </a:t>
            </a:r>
          </a:p>
          <a:p>
            <a:pPr marL="712470" lvl="1" indent="-356235" algn="l">
              <a:lnSpc>
                <a:spcPts val="3564"/>
              </a:lnSpc>
              <a:buFont typeface="Arial"/>
              <a:buChar char="•"/>
            </a:pPr>
            <a:r>
              <a:rPr lang="en-US" dirty="0">
                <a:solidFill>
                  <a:srgbClr val="000000"/>
                </a:solidFill>
                <a:latin typeface="Arial"/>
                <a:ea typeface="Arial"/>
                <a:cs typeface="Arial"/>
                <a:sym typeface="Arial"/>
              </a:rPr>
              <a:t>Cleveland Heart Disease Dataset (Kaggle version) containing clinical features such as age, cholesterol, and ECG measurements. </a:t>
            </a:r>
          </a:p>
          <a:p>
            <a:pPr marL="712470" lvl="1" indent="-356235" algn="l">
              <a:lnSpc>
                <a:spcPts val="3564"/>
              </a:lnSpc>
              <a:buFont typeface="Arial"/>
              <a:buChar char="•"/>
            </a:pPr>
            <a:r>
              <a:rPr lang="en-US" dirty="0">
                <a:solidFill>
                  <a:srgbClr val="000000"/>
                </a:solidFill>
                <a:latin typeface="Arial"/>
                <a:ea typeface="Arial"/>
                <a:cs typeface="Arial"/>
                <a:sym typeface="Arial"/>
              </a:rPr>
              <a:t>Logistic Regression-based heart disease prediction research explaining classification using medical features.</a:t>
            </a:r>
          </a:p>
          <a:p>
            <a:pPr algn="l">
              <a:lnSpc>
                <a:spcPts val="3564"/>
              </a:lnSpc>
            </a:pPr>
            <a:endParaRPr lang="en-US" sz="3300" dirty="0">
              <a:solidFill>
                <a:srgbClr val="000000"/>
              </a:solidFill>
              <a:latin typeface="Arial"/>
              <a:ea typeface="Arial"/>
              <a:cs typeface="Arial"/>
              <a:sym typeface="Arial"/>
            </a:endParaRPr>
          </a:p>
          <a:p>
            <a:pPr algn="l">
              <a:lnSpc>
                <a:spcPts val="3564"/>
              </a:lnSpc>
            </a:pPr>
            <a:endParaRPr lang="en-US" sz="3300" dirty="0">
              <a:solidFill>
                <a:srgbClr val="000000"/>
              </a:solidFill>
              <a:latin typeface="Arial"/>
              <a:ea typeface="Arial"/>
              <a:cs typeface="Arial"/>
              <a:sym typeface="Arial"/>
            </a:endParaRPr>
          </a:p>
          <a:p>
            <a:pPr algn="l">
              <a:lnSpc>
                <a:spcPts val="3564"/>
              </a:lnSpc>
            </a:pPr>
            <a:r>
              <a:rPr lang="en-US" dirty="0">
                <a:solidFill>
                  <a:srgbClr val="000000"/>
                </a:solidFill>
                <a:latin typeface="Arial"/>
                <a:ea typeface="Arial"/>
                <a:cs typeface="Arial"/>
                <a:sym typeface="Arial"/>
              </a:rPr>
              <a:t>GitHub Link:</a:t>
            </a:r>
          </a:p>
          <a:p>
            <a:pPr algn="l">
              <a:lnSpc>
                <a:spcPts val="3564"/>
              </a:lnSpc>
            </a:pPr>
            <a:r>
              <a:rPr lang="en-US" u="sng" dirty="0">
                <a:solidFill>
                  <a:srgbClr val="0070C0"/>
                </a:solidFill>
                <a:latin typeface="Arial"/>
                <a:ea typeface="Arial"/>
                <a:cs typeface="Arial"/>
                <a:sym typeface="Arial"/>
              </a:rPr>
              <a:t>https://github.com/Mru017/Heart-disease-prediction</a:t>
            </a:r>
          </a:p>
          <a:p>
            <a:pPr algn="l">
              <a:lnSpc>
                <a:spcPts val="3564"/>
              </a:lnSpc>
            </a:pPr>
            <a:endParaRPr lang="en-US" u="sng" dirty="0">
              <a:solidFill>
                <a:srgbClr val="0070C0"/>
              </a:solidFill>
              <a:latin typeface="Arial"/>
              <a:ea typeface="Arial"/>
              <a:cs typeface="Arial"/>
              <a:sym typeface="Arial"/>
            </a:endParaRPr>
          </a:p>
          <a:p>
            <a:pPr>
              <a:lnSpc>
                <a:spcPts val="3564"/>
              </a:lnSpc>
            </a:pPr>
            <a:r>
              <a:rPr lang="en-US" dirty="0">
                <a:solidFill>
                  <a:srgbClr val="000000"/>
                </a:solidFill>
                <a:latin typeface="Arial"/>
                <a:ea typeface="Arial"/>
                <a:cs typeface="Arial"/>
                <a:sym typeface="Arial"/>
              </a:rPr>
              <a:t>Dataset Link:</a:t>
            </a:r>
            <a:r>
              <a:rPr lang="en-US" u="sng" dirty="0">
                <a:solidFill>
                  <a:srgbClr val="0070C0"/>
                </a:solidFill>
                <a:latin typeface="Arial"/>
                <a:ea typeface="Arial"/>
                <a:cs typeface="Arial"/>
                <a:sym typeface="Arial"/>
              </a:rPr>
              <a:t> https://. drivegoogle.com/file/d/1CEqlOEexf9p02M5vCC1RDLXibHYE9Xz/viewy</a:t>
            </a:r>
          </a:p>
          <a:p>
            <a:pPr algn="l">
              <a:lnSpc>
                <a:spcPts val="3564"/>
              </a:lnSpc>
            </a:pPr>
            <a:endParaRPr lang="en-US" sz="3300" u="sng" dirty="0">
              <a:solidFill>
                <a:srgbClr val="0070C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5561126" cy="990600"/>
            <a:chOff x="0" y="0"/>
            <a:chExt cx="20748168" cy="1320800"/>
          </a:xfrm>
        </p:grpSpPr>
        <p:sp>
          <p:nvSpPr>
            <p:cNvPr id="3" name="Freeform 3"/>
            <p:cNvSpPr/>
            <p:nvPr/>
          </p:nvSpPr>
          <p:spPr>
            <a:xfrm>
              <a:off x="0" y="0"/>
              <a:ext cx="20748117" cy="1320800"/>
            </a:xfrm>
            <a:custGeom>
              <a:avLst/>
              <a:gdLst/>
              <a:ahLst/>
              <a:cxnLst/>
              <a:rect l="l" t="t" r="r" b="b"/>
              <a:pathLst>
                <a:path w="20748117" h="1320800">
                  <a:moveTo>
                    <a:pt x="0" y="0"/>
                  </a:moveTo>
                  <a:lnTo>
                    <a:pt x="20748117" y="0"/>
                  </a:lnTo>
                  <a:lnTo>
                    <a:pt x="20748117" y="1320800"/>
                  </a:lnTo>
                  <a:lnTo>
                    <a:pt x="0" y="1320800"/>
                  </a:lnTo>
                  <a:close/>
                </a:path>
              </a:pathLst>
            </a:custGeom>
            <a:solidFill>
              <a:srgbClr val="263570"/>
            </a:solidFill>
          </p:spPr>
          <p:txBody>
            <a:bodyPr/>
            <a:lstStyle/>
            <a:p>
              <a:endParaRPr lang="en-IN"/>
            </a:p>
          </p:txBody>
        </p:sp>
      </p:grpSp>
      <p:grpSp>
        <p:nvGrpSpPr>
          <p:cNvPr id="4" name="Group 4"/>
          <p:cNvGrpSpPr/>
          <p:nvPr/>
        </p:nvGrpSpPr>
        <p:grpSpPr>
          <a:xfrm>
            <a:off x="0" y="10039350"/>
            <a:ext cx="18288000" cy="247650"/>
            <a:chOff x="0" y="0"/>
            <a:chExt cx="24384000" cy="330200"/>
          </a:xfrm>
        </p:grpSpPr>
        <p:sp>
          <p:nvSpPr>
            <p:cNvPr id="5" name="Freeform 5"/>
            <p:cNvSpPr/>
            <p:nvPr/>
          </p:nvSpPr>
          <p:spPr>
            <a:xfrm>
              <a:off x="0" y="0"/>
              <a:ext cx="24384000" cy="330200"/>
            </a:xfrm>
            <a:custGeom>
              <a:avLst/>
              <a:gdLst/>
              <a:ahLst/>
              <a:cxnLst/>
              <a:rect l="l" t="t" r="r" b="b"/>
              <a:pathLst>
                <a:path w="24384000" h="330200">
                  <a:moveTo>
                    <a:pt x="0" y="0"/>
                  </a:moveTo>
                  <a:lnTo>
                    <a:pt x="24384000" y="0"/>
                  </a:lnTo>
                  <a:lnTo>
                    <a:pt x="24384000" y="330200"/>
                  </a:lnTo>
                  <a:lnTo>
                    <a:pt x="0" y="330200"/>
                  </a:lnTo>
                  <a:close/>
                </a:path>
              </a:pathLst>
            </a:custGeom>
            <a:solidFill>
              <a:srgbClr val="34A751"/>
            </a:solidFill>
          </p:spPr>
          <p:txBody>
            <a:bodyPr/>
            <a:lstStyle/>
            <a:p>
              <a:endParaRPr lang="en-IN"/>
            </a:p>
          </p:txBody>
        </p:sp>
      </p:grpSp>
      <p:grpSp>
        <p:nvGrpSpPr>
          <p:cNvPr id="6" name="Group 6"/>
          <p:cNvGrpSpPr/>
          <p:nvPr/>
        </p:nvGrpSpPr>
        <p:grpSpPr>
          <a:xfrm>
            <a:off x="15698857" y="136503"/>
            <a:ext cx="2200018" cy="717585"/>
            <a:chOff x="0" y="0"/>
            <a:chExt cx="2933357" cy="956780"/>
          </a:xfrm>
        </p:grpSpPr>
        <p:sp>
          <p:nvSpPr>
            <p:cNvPr id="7" name="Freeform 7" descr="A black background with grey text  AI-generated content may be incorrect."/>
            <p:cNvSpPr/>
            <p:nvPr/>
          </p:nvSpPr>
          <p:spPr>
            <a:xfrm>
              <a:off x="0" y="0"/>
              <a:ext cx="2933319" cy="956818"/>
            </a:xfrm>
            <a:custGeom>
              <a:avLst/>
              <a:gdLst/>
              <a:ahLst/>
              <a:cxnLst/>
              <a:rect l="l" t="t" r="r" b="b"/>
              <a:pathLst>
                <a:path w="2933319" h="956818">
                  <a:moveTo>
                    <a:pt x="0" y="0"/>
                  </a:moveTo>
                  <a:lnTo>
                    <a:pt x="2933319" y="0"/>
                  </a:lnTo>
                  <a:lnTo>
                    <a:pt x="2933319" y="956818"/>
                  </a:lnTo>
                  <a:lnTo>
                    <a:pt x="0" y="956818"/>
                  </a:lnTo>
                  <a:lnTo>
                    <a:pt x="0" y="0"/>
                  </a:lnTo>
                  <a:close/>
                </a:path>
              </a:pathLst>
            </a:custGeom>
            <a:blipFill>
              <a:blip r:embed="rId3"/>
              <a:stretch>
                <a:fillRect r="-1" b="-11"/>
              </a:stretch>
            </a:blipFill>
          </p:spPr>
          <p:txBody>
            <a:bodyPr/>
            <a:lstStyle/>
            <a:p>
              <a:endParaRPr lang="en-IN"/>
            </a:p>
          </p:txBody>
        </p:sp>
      </p:grpSp>
      <p:sp>
        <p:nvSpPr>
          <p:cNvPr id="8" name="TextBox 8"/>
          <p:cNvSpPr txBox="1"/>
          <p:nvPr/>
        </p:nvSpPr>
        <p:spPr>
          <a:xfrm>
            <a:off x="4962868" y="4531347"/>
            <a:ext cx="8362255" cy="1195721"/>
          </a:xfrm>
          <a:prstGeom prst="rect">
            <a:avLst/>
          </a:prstGeom>
        </p:spPr>
        <p:txBody>
          <a:bodyPr lIns="0" tIns="0" rIns="0" bIns="0" rtlCol="0" anchor="t">
            <a:spAutoFit/>
          </a:bodyPr>
          <a:lstStyle/>
          <a:p>
            <a:pPr algn="ctr">
              <a:lnSpc>
                <a:spcPts val="8640"/>
              </a:lnSpc>
            </a:pPr>
            <a:r>
              <a:rPr lang="en-US" sz="7200" b="1">
                <a:solidFill>
                  <a:srgbClr val="002060"/>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1680</Words>
  <Application>Microsoft Office PowerPoint</Application>
  <PresentationFormat>Custom</PresentationFormat>
  <Paragraphs>178</Paragraphs>
  <Slides>21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 Bold</vt:lpstr>
      <vt:lpstr>ITC Franklin Gothic LT</vt:lpstr>
      <vt:lpstr>Arial Bold</vt:lpstr>
      <vt:lpstr>Aptos</vt:lpstr>
      <vt:lpstr>Arial</vt:lpstr>
      <vt:lpstr>Calibri</vt:lpstr>
      <vt:lpstr>ITC Franklin Gothic LT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Elevate AICTE Internship - Project.pptx</dc:title>
  <cp:lastModifiedBy>Mrudula Kamdi</cp:lastModifiedBy>
  <cp:revision>1</cp:revision>
  <dcterms:created xsi:type="dcterms:W3CDTF">2006-08-16T00:00:00Z</dcterms:created>
  <dcterms:modified xsi:type="dcterms:W3CDTF">2026-02-21T15:46:06Z</dcterms:modified>
  <dc:identifier>DAHBNwjyAw4</dc:identifier>
</cp:coreProperties>
</file>